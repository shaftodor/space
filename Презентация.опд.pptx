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974C0EF-5B96-482B-A537-C4D25617FF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F019125-A9E3-4DB1-BCBD-1350C460E2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8A17E1-E49A-4CE7-BE88-952CCAFF9A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FC9D891-5E01-420B-8C75-363AE2D953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CDA13E-0817-4B09-B007-FA45E91FC8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F7B44BF-E8D1-41EA-8553-E91B047F47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6C65005-5200-49BD-BD0D-750BCD969E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65102AF-0614-49B0-B6A2-2FEFDCFF77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8C730D3-B029-4877-830E-F6B05539EE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387BD94-EFD5-4BDB-B635-EF002EE493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32577AC-EF95-4811-B79E-E4C5701EBA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"/>
          <p:cNvSpPr/>
          <p:nvPr/>
        </p:nvSpPr>
        <p:spPr>
          <a:xfrm>
            <a:off x="685800" y="1298520"/>
            <a:ext cx="7588800" cy="25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ГИБКИЕ ПОДХОДЫ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К УПРАВЛЕНИЮ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ПРОЕКТАМИ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749880" y="4160520"/>
            <a:ext cx="7405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768A"/>
                </a:solidFill>
                <a:effectLst/>
                <a:uFillTx/>
                <a:latin typeface="Aptos"/>
              </a:rPr>
              <a:t>Agile • итерации • ценность • непрерывное улучшение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749880" y="5897880"/>
            <a:ext cx="7588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66768A"/>
                </a:solidFill>
                <a:effectLst/>
                <a:uFillTx/>
                <a:latin typeface="Aptos"/>
              </a:rPr>
              <a:t>Обзор методологий и выбор подхода под задачи проекта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Oval 5"/>
          <p:cNvSpPr/>
          <p:nvPr/>
        </p:nvSpPr>
        <p:spPr>
          <a:xfrm>
            <a:off x="8595360" y="868680"/>
            <a:ext cx="1873800" cy="1873800"/>
          </a:xfrm>
          <a:prstGeom prst="ellipse">
            <a:avLst/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Oval 6"/>
          <p:cNvSpPr/>
          <p:nvPr/>
        </p:nvSpPr>
        <p:spPr>
          <a:xfrm>
            <a:off x="9692640" y="2240280"/>
            <a:ext cx="1325160" cy="1325160"/>
          </a:xfrm>
          <a:prstGeom prst="ellipse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Oval 7"/>
          <p:cNvSpPr/>
          <p:nvPr/>
        </p:nvSpPr>
        <p:spPr>
          <a:xfrm>
            <a:off x="7909560" y="3337560"/>
            <a:ext cx="1023480" cy="102348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Oval 8"/>
          <p:cNvSpPr/>
          <p:nvPr/>
        </p:nvSpPr>
        <p:spPr>
          <a:xfrm>
            <a:off x="9189720" y="4251960"/>
            <a:ext cx="1736640" cy="1736640"/>
          </a:xfrm>
          <a:prstGeom prst="ellipse">
            <a:avLst/>
          </a:prstGeom>
          <a:solidFill>
            <a:srgbClr val="E8EF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Oval 9"/>
          <p:cNvSpPr/>
          <p:nvPr/>
        </p:nvSpPr>
        <p:spPr>
          <a:xfrm>
            <a:off x="8988480" y="1234440"/>
            <a:ext cx="657720" cy="65772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Что такое гибкое управление?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685800" y="1298520"/>
            <a:ext cx="10697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Гибкие подходы помогают создавать результат постепенно, проверяя решения на практике и адаптируясь к изменениям.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6"/>
          <p:cNvSpPr/>
          <p:nvPr/>
        </p:nvSpPr>
        <p:spPr>
          <a:xfrm>
            <a:off x="685800" y="2514600"/>
            <a:ext cx="2513880" cy="187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Oval 7"/>
          <p:cNvSpPr/>
          <p:nvPr/>
        </p:nvSpPr>
        <p:spPr>
          <a:xfrm>
            <a:off x="868680" y="2724840"/>
            <a:ext cx="438120" cy="43812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1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1435680" y="2724840"/>
            <a:ext cx="1553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Планируем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887040" y="3337560"/>
            <a:ext cx="2084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Выбираем ближайшую цель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3218760" y="3063240"/>
            <a:ext cx="319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3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→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1"/>
          <p:cNvSpPr/>
          <p:nvPr/>
        </p:nvSpPr>
        <p:spPr>
          <a:xfrm>
            <a:off x="3538800" y="2514600"/>
            <a:ext cx="2513880" cy="187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Oval 12"/>
          <p:cNvSpPr/>
          <p:nvPr/>
        </p:nvSpPr>
        <p:spPr>
          <a:xfrm>
            <a:off x="3721680" y="2724840"/>
            <a:ext cx="438120" cy="43812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2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4288680" y="2724840"/>
            <a:ext cx="1553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Создаём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4"/>
          <p:cNvSpPr/>
          <p:nvPr/>
        </p:nvSpPr>
        <p:spPr>
          <a:xfrm>
            <a:off x="3740040" y="3337560"/>
            <a:ext cx="2084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Делаем часть продукта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5"/>
          <p:cNvSpPr/>
          <p:nvPr/>
        </p:nvSpPr>
        <p:spPr>
          <a:xfrm>
            <a:off x="6071760" y="3063240"/>
            <a:ext cx="319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3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→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6"/>
          <p:cNvSpPr/>
          <p:nvPr/>
        </p:nvSpPr>
        <p:spPr>
          <a:xfrm>
            <a:off x="6391800" y="2514600"/>
            <a:ext cx="2513880" cy="187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Oval 17"/>
          <p:cNvSpPr/>
          <p:nvPr/>
        </p:nvSpPr>
        <p:spPr>
          <a:xfrm>
            <a:off x="6574680" y="2724840"/>
            <a:ext cx="438120" cy="43812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3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8"/>
          <p:cNvSpPr/>
          <p:nvPr/>
        </p:nvSpPr>
        <p:spPr>
          <a:xfrm>
            <a:off x="7141320" y="2724840"/>
            <a:ext cx="1553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Проверяем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9"/>
          <p:cNvSpPr/>
          <p:nvPr/>
        </p:nvSpPr>
        <p:spPr>
          <a:xfrm>
            <a:off x="6592680" y="3337560"/>
            <a:ext cx="2084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Тестируем и собираем отзывы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8924400" y="3063240"/>
            <a:ext cx="319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3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→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21"/>
          <p:cNvSpPr/>
          <p:nvPr/>
        </p:nvSpPr>
        <p:spPr>
          <a:xfrm>
            <a:off x="9244440" y="2514600"/>
            <a:ext cx="2513880" cy="187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Oval 22"/>
          <p:cNvSpPr/>
          <p:nvPr/>
        </p:nvSpPr>
        <p:spPr>
          <a:xfrm>
            <a:off x="9427320" y="2724840"/>
            <a:ext cx="438120" cy="43812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3"/>
          <p:cNvSpPr/>
          <p:nvPr/>
        </p:nvSpPr>
        <p:spPr>
          <a:xfrm>
            <a:off x="9994320" y="2724840"/>
            <a:ext cx="1553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Улучшаем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4"/>
          <p:cNvSpPr/>
          <p:nvPr/>
        </p:nvSpPr>
        <p:spPr>
          <a:xfrm>
            <a:off x="9445680" y="3337560"/>
            <a:ext cx="2084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Меняем приоритеты и повторяем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5"/>
          <p:cNvSpPr/>
          <p:nvPr/>
        </p:nvSpPr>
        <p:spPr>
          <a:xfrm>
            <a:off x="777240" y="507492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Главная идея: не ждать идеального финала — регулярно получать полезный результат и учиться на обратной связи.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26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Итеративно-инкрементальный подход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685800" y="1325880"/>
            <a:ext cx="5211360" cy="1508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6"/>
          <p:cNvSpPr/>
          <p:nvPr/>
        </p:nvSpPr>
        <p:spPr>
          <a:xfrm>
            <a:off x="685800" y="1325880"/>
            <a:ext cx="72360" cy="150804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887040" y="1472040"/>
            <a:ext cx="4845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Итерация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887040" y="1892880"/>
            <a:ext cx="484560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Повторяющийся цикл: уточнение требований → планирование → разработка → проверка → обратная связь.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9"/>
          <p:cNvSpPr/>
          <p:nvPr/>
        </p:nvSpPr>
        <p:spPr>
          <a:xfrm>
            <a:off x="6263640" y="1325880"/>
            <a:ext cx="5211360" cy="1508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10"/>
          <p:cNvSpPr/>
          <p:nvPr/>
        </p:nvSpPr>
        <p:spPr>
          <a:xfrm>
            <a:off x="6263640" y="1325880"/>
            <a:ext cx="72360" cy="150804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6464880" y="1472040"/>
            <a:ext cx="4845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Инкремент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6464880" y="1892880"/>
            <a:ext cx="484560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Новая функциональная часть продукта, добавленная к уже созданному результату и приносящая пользу.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723960" y="3015720"/>
            <a:ext cx="4022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Как накапливается результат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4"/>
          <p:cNvSpPr/>
          <p:nvPr/>
        </p:nvSpPr>
        <p:spPr>
          <a:xfrm>
            <a:off x="822960" y="4438440"/>
            <a:ext cx="2148120" cy="593640"/>
          </a:xfrm>
          <a:prstGeom prst="roundRect">
            <a:avLst>
              <a:gd name="adj" fmla="val 12000"/>
            </a:avLst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896040" y="461772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База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6"/>
          <p:cNvSpPr/>
          <p:nvPr/>
        </p:nvSpPr>
        <p:spPr>
          <a:xfrm>
            <a:off x="3520440" y="4209840"/>
            <a:ext cx="2148120" cy="822240"/>
          </a:xfrm>
          <a:prstGeom prst="roundRect">
            <a:avLst>
              <a:gd name="adj" fmla="val 12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3593520" y="461772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+ функция 1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8"/>
          <p:cNvSpPr/>
          <p:nvPr/>
        </p:nvSpPr>
        <p:spPr>
          <a:xfrm>
            <a:off x="6173640" y="3981240"/>
            <a:ext cx="2148120" cy="1050840"/>
          </a:xfrm>
          <a:prstGeom prst="roundRect">
            <a:avLst>
              <a:gd name="adj" fmla="val 12000"/>
            </a:avLst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9"/>
          <p:cNvSpPr/>
          <p:nvPr/>
        </p:nvSpPr>
        <p:spPr>
          <a:xfrm>
            <a:off x="6291000" y="461772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+ функция 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20"/>
          <p:cNvSpPr/>
          <p:nvPr/>
        </p:nvSpPr>
        <p:spPr>
          <a:xfrm>
            <a:off x="8871120" y="3761280"/>
            <a:ext cx="2148120" cy="1279440"/>
          </a:xfrm>
          <a:prstGeom prst="roundRect">
            <a:avLst>
              <a:gd name="adj" fmla="val 12000"/>
            </a:avLst>
          </a:prstGeom>
          <a:solidFill>
            <a:srgbClr val="72A4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1"/>
          <p:cNvSpPr/>
          <p:nvPr/>
        </p:nvSpPr>
        <p:spPr>
          <a:xfrm>
            <a:off x="8988480" y="461772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+ улучшение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2"/>
          <p:cNvSpPr/>
          <p:nvPr/>
        </p:nvSpPr>
        <p:spPr>
          <a:xfrm>
            <a:off x="777240" y="566388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Пользователь видит промежуточные версии, а команда раньше обнаруживает ошибки и снижает неопределённость.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23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Почему появились гибкие подходы?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5"/>
          <p:cNvSpPr/>
          <p:nvPr/>
        </p:nvSpPr>
        <p:spPr>
          <a:xfrm>
            <a:off x="685800" y="1417320"/>
            <a:ext cx="3428280" cy="1690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6"/>
          <p:cNvSpPr/>
          <p:nvPr/>
        </p:nvSpPr>
        <p:spPr>
          <a:xfrm>
            <a:off x="685800" y="1417320"/>
            <a:ext cx="72360" cy="169092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887040" y="156348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Требования меняются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887040" y="1984320"/>
            <a:ext cx="3062520" cy="10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Представление о продукте уточняется в процессе работы.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9"/>
          <p:cNvSpPr/>
          <p:nvPr/>
        </p:nvSpPr>
        <p:spPr>
          <a:xfrm>
            <a:off x="4480560" y="1417320"/>
            <a:ext cx="3428280" cy="1690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0"/>
          <p:cNvSpPr/>
          <p:nvPr/>
        </p:nvSpPr>
        <p:spPr>
          <a:xfrm>
            <a:off x="4480560" y="1417320"/>
            <a:ext cx="72360" cy="1690920"/>
          </a:xfrm>
          <a:prstGeom prst="rect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1"/>
          <p:cNvSpPr/>
          <p:nvPr/>
        </p:nvSpPr>
        <p:spPr>
          <a:xfrm>
            <a:off x="4681800" y="156348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Технологии развиваются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2"/>
          <p:cNvSpPr/>
          <p:nvPr/>
        </p:nvSpPr>
        <p:spPr>
          <a:xfrm>
            <a:off x="4681800" y="1984320"/>
            <a:ext cx="3062520" cy="10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Инструменты и платформы быстро устаревают.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3"/>
          <p:cNvSpPr/>
          <p:nvPr/>
        </p:nvSpPr>
        <p:spPr>
          <a:xfrm>
            <a:off x="8275320" y="1417320"/>
            <a:ext cx="3428280" cy="1690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14"/>
          <p:cNvSpPr/>
          <p:nvPr/>
        </p:nvSpPr>
        <p:spPr>
          <a:xfrm>
            <a:off x="8275320" y="1417320"/>
            <a:ext cx="72360" cy="169092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5"/>
          <p:cNvSpPr/>
          <p:nvPr/>
        </p:nvSpPr>
        <p:spPr>
          <a:xfrm>
            <a:off x="8476560" y="156348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Рынок ускоряется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6"/>
          <p:cNvSpPr/>
          <p:nvPr/>
        </p:nvSpPr>
        <p:spPr>
          <a:xfrm>
            <a:off x="8476560" y="1984320"/>
            <a:ext cx="3062520" cy="10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Важно раньше показать продукт и получить реакцию клиентов.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7"/>
          <p:cNvSpPr/>
          <p:nvPr/>
        </p:nvSpPr>
        <p:spPr>
          <a:xfrm>
            <a:off x="685800" y="3566160"/>
            <a:ext cx="3428280" cy="1690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18"/>
          <p:cNvSpPr/>
          <p:nvPr/>
        </p:nvSpPr>
        <p:spPr>
          <a:xfrm>
            <a:off x="685800" y="3566160"/>
            <a:ext cx="72360" cy="169092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9"/>
          <p:cNvSpPr/>
          <p:nvPr/>
        </p:nvSpPr>
        <p:spPr>
          <a:xfrm>
            <a:off x="887040" y="371232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Проекты сложны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0"/>
          <p:cNvSpPr/>
          <p:nvPr/>
        </p:nvSpPr>
        <p:spPr>
          <a:xfrm>
            <a:off x="887040" y="4133160"/>
            <a:ext cx="3062520" cy="10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Не все риски и взаимосвязи можно предсказать заранее.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21"/>
          <p:cNvSpPr/>
          <p:nvPr/>
        </p:nvSpPr>
        <p:spPr>
          <a:xfrm>
            <a:off x="4480560" y="3566160"/>
            <a:ext cx="3428280" cy="1690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22"/>
          <p:cNvSpPr/>
          <p:nvPr/>
        </p:nvSpPr>
        <p:spPr>
          <a:xfrm>
            <a:off x="4480560" y="3566160"/>
            <a:ext cx="72360" cy="1690920"/>
          </a:xfrm>
          <a:prstGeom prst="rect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3"/>
          <p:cNvSpPr/>
          <p:nvPr/>
        </p:nvSpPr>
        <p:spPr>
          <a:xfrm>
            <a:off x="4681800" y="371232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Риски нужно проверять рано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4"/>
          <p:cNvSpPr/>
          <p:nvPr/>
        </p:nvSpPr>
        <p:spPr>
          <a:xfrm>
            <a:off x="4681800" y="4320000"/>
            <a:ext cx="3062520" cy="10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Проблемы дешевле исправлять до финального этапа.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25"/>
          <p:cNvSpPr/>
          <p:nvPr/>
        </p:nvSpPr>
        <p:spPr>
          <a:xfrm>
            <a:off x="8275320" y="3566160"/>
            <a:ext cx="3428280" cy="1690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26"/>
          <p:cNvSpPr/>
          <p:nvPr/>
        </p:nvSpPr>
        <p:spPr>
          <a:xfrm>
            <a:off x="8275320" y="3566160"/>
            <a:ext cx="72360" cy="169092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7"/>
          <p:cNvSpPr/>
          <p:nvPr/>
        </p:nvSpPr>
        <p:spPr>
          <a:xfrm>
            <a:off x="8476560" y="371232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Заказчик — участник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8"/>
          <p:cNvSpPr/>
          <p:nvPr/>
        </p:nvSpPr>
        <p:spPr>
          <a:xfrm>
            <a:off x="8476560" y="4133160"/>
            <a:ext cx="3062520" cy="10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Регулярная обратная связь помогает создавать нужный результат.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29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Гибкий и классический подходы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5"/>
          <p:cNvSpPr/>
          <p:nvPr/>
        </p:nvSpPr>
        <p:spPr>
          <a:xfrm>
            <a:off x="731520" y="1353240"/>
            <a:ext cx="2148120" cy="474840"/>
          </a:xfrm>
          <a:prstGeom prst="roundRect">
            <a:avLst>
              <a:gd name="adj" fmla="val 12000"/>
            </a:avLst>
          </a:prstGeom>
          <a:solidFill>
            <a:srgbClr val="13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6"/>
          <p:cNvSpPr/>
          <p:nvPr/>
        </p:nvSpPr>
        <p:spPr>
          <a:xfrm>
            <a:off x="841320" y="1444680"/>
            <a:ext cx="1928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Критерий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7"/>
          <p:cNvSpPr/>
          <p:nvPr/>
        </p:nvSpPr>
        <p:spPr>
          <a:xfrm>
            <a:off x="3017520" y="1353240"/>
            <a:ext cx="4068360" cy="474840"/>
          </a:xfrm>
          <a:prstGeom prst="roundRect">
            <a:avLst>
              <a:gd name="adj" fmla="val 12000"/>
            </a:avLst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3127320" y="1444680"/>
            <a:ext cx="3848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Классический подход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9"/>
          <p:cNvSpPr/>
          <p:nvPr/>
        </p:nvSpPr>
        <p:spPr>
          <a:xfrm>
            <a:off x="7360920" y="1353240"/>
            <a:ext cx="4068360" cy="474840"/>
          </a:xfrm>
          <a:prstGeom prst="roundRect">
            <a:avLst>
              <a:gd name="adj" fmla="val 12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7470720" y="1444680"/>
            <a:ext cx="3848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Гибкий подход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11"/>
          <p:cNvSpPr/>
          <p:nvPr/>
        </p:nvSpPr>
        <p:spPr>
          <a:xfrm>
            <a:off x="731520" y="1874520"/>
            <a:ext cx="2148120" cy="685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841320" y="1984320"/>
            <a:ext cx="1928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Планирование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3"/>
          <p:cNvSpPr/>
          <p:nvPr/>
        </p:nvSpPr>
        <p:spPr>
          <a:xfrm>
            <a:off x="3017520" y="1874520"/>
            <a:ext cx="4068360" cy="685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4"/>
          <p:cNvSpPr/>
          <p:nvPr/>
        </p:nvSpPr>
        <p:spPr>
          <a:xfrm>
            <a:off x="3127320" y="198432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Большая часть плана задаётся заранее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15"/>
          <p:cNvSpPr/>
          <p:nvPr/>
        </p:nvSpPr>
        <p:spPr>
          <a:xfrm>
            <a:off x="7360920" y="1874520"/>
            <a:ext cx="4068360" cy="685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6"/>
          <p:cNvSpPr/>
          <p:nvPr/>
        </p:nvSpPr>
        <p:spPr>
          <a:xfrm>
            <a:off x="7470720" y="198432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Детали уточняются по ходу работы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17"/>
          <p:cNvSpPr/>
          <p:nvPr/>
        </p:nvSpPr>
        <p:spPr>
          <a:xfrm>
            <a:off x="731520" y="2660760"/>
            <a:ext cx="2148120" cy="685080"/>
          </a:xfrm>
          <a:prstGeom prst="rect">
            <a:avLst/>
          </a:prstGeom>
          <a:solidFill>
            <a:srgbClr val="E8EF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8"/>
          <p:cNvSpPr/>
          <p:nvPr/>
        </p:nvSpPr>
        <p:spPr>
          <a:xfrm>
            <a:off x="841320" y="2770560"/>
            <a:ext cx="1928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Изменения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19"/>
          <p:cNvSpPr/>
          <p:nvPr/>
        </p:nvSpPr>
        <p:spPr>
          <a:xfrm>
            <a:off x="3017520" y="2660760"/>
            <a:ext cx="4068360" cy="685080"/>
          </a:xfrm>
          <a:prstGeom prst="rect">
            <a:avLst/>
          </a:prstGeom>
          <a:solidFill>
            <a:srgbClr val="E8EF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0"/>
          <p:cNvSpPr/>
          <p:nvPr/>
        </p:nvSpPr>
        <p:spPr>
          <a:xfrm>
            <a:off x="3127320" y="277056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Обычно требуют формального согласования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21"/>
          <p:cNvSpPr/>
          <p:nvPr/>
        </p:nvSpPr>
        <p:spPr>
          <a:xfrm>
            <a:off x="7360920" y="2660760"/>
            <a:ext cx="4068360" cy="685080"/>
          </a:xfrm>
          <a:prstGeom prst="rect">
            <a:avLst/>
          </a:prstGeom>
          <a:solidFill>
            <a:srgbClr val="E8EF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2"/>
          <p:cNvSpPr/>
          <p:nvPr/>
        </p:nvSpPr>
        <p:spPr>
          <a:xfrm>
            <a:off x="7470720" y="277056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Принимаются и расставляются по приоритету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23"/>
          <p:cNvSpPr/>
          <p:nvPr/>
        </p:nvSpPr>
        <p:spPr>
          <a:xfrm>
            <a:off x="731520" y="3447360"/>
            <a:ext cx="2148120" cy="685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4"/>
          <p:cNvSpPr/>
          <p:nvPr/>
        </p:nvSpPr>
        <p:spPr>
          <a:xfrm>
            <a:off x="841320" y="3557160"/>
            <a:ext cx="1928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Поставка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25"/>
          <p:cNvSpPr/>
          <p:nvPr/>
        </p:nvSpPr>
        <p:spPr>
          <a:xfrm>
            <a:off x="3017520" y="3447360"/>
            <a:ext cx="4068360" cy="685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6"/>
          <p:cNvSpPr/>
          <p:nvPr/>
        </p:nvSpPr>
        <p:spPr>
          <a:xfrm>
            <a:off x="3127320" y="355716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Чаще крупный результат в конце этапов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27"/>
          <p:cNvSpPr/>
          <p:nvPr/>
        </p:nvSpPr>
        <p:spPr>
          <a:xfrm>
            <a:off x="7360920" y="3447360"/>
            <a:ext cx="4068360" cy="685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8"/>
          <p:cNvSpPr/>
          <p:nvPr/>
        </p:nvSpPr>
        <p:spPr>
          <a:xfrm>
            <a:off x="7470720" y="355716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Небольшие результаты регулярно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29"/>
          <p:cNvSpPr/>
          <p:nvPr/>
        </p:nvSpPr>
        <p:spPr>
          <a:xfrm>
            <a:off x="731520" y="4233600"/>
            <a:ext cx="2148120" cy="685080"/>
          </a:xfrm>
          <a:prstGeom prst="rect">
            <a:avLst/>
          </a:prstGeom>
          <a:solidFill>
            <a:srgbClr val="E8EF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30"/>
          <p:cNvSpPr/>
          <p:nvPr/>
        </p:nvSpPr>
        <p:spPr>
          <a:xfrm>
            <a:off x="841320" y="4343400"/>
            <a:ext cx="1928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Обратная связь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31"/>
          <p:cNvSpPr/>
          <p:nvPr/>
        </p:nvSpPr>
        <p:spPr>
          <a:xfrm>
            <a:off x="3017520" y="4233600"/>
            <a:ext cx="4068360" cy="685080"/>
          </a:xfrm>
          <a:prstGeom prst="rect">
            <a:avLst/>
          </a:prstGeom>
          <a:solidFill>
            <a:srgbClr val="E8EF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32"/>
          <p:cNvSpPr/>
          <p:nvPr/>
        </p:nvSpPr>
        <p:spPr>
          <a:xfrm>
            <a:off x="3127320" y="434340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На контрольных точках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33"/>
          <p:cNvSpPr/>
          <p:nvPr/>
        </p:nvSpPr>
        <p:spPr>
          <a:xfrm>
            <a:off x="7360920" y="4233600"/>
            <a:ext cx="4068360" cy="685080"/>
          </a:xfrm>
          <a:prstGeom prst="rect">
            <a:avLst/>
          </a:prstGeom>
          <a:solidFill>
            <a:srgbClr val="E8EF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34"/>
          <p:cNvSpPr/>
          <p:nvPr/>
        </p:nvSpPr>
        <p:spPr>
          <a:xfrm>
            <a:off x="7470720" y="434340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Постоянно после итераций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35"/>
          <p:cNvSpPr/>
          <p:nvPr/>
        </p:nvSpPr>
        <p:spPr>
          <a:xfrm>
            <a:off x="731520" y="5020200"/>
            <a:ext cx="2148120" cy="685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36"/>
          <p:cNvSpPr/>
          <p:nvPr/>
        </p:nvSpPr>
        <p:spPr>
          <a:xfrm>
            <a:off x="841320" y="5129640"/>
            <a:ext cx="1928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Риски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37"/>
          <p:cNvSpPr/>
          <p:nvPr/>
        </p:nvSpPr>
        <p:spPr>
          <a:xfrm>
            <a:off x="3017520" y="5020200"/>
            <a:ext cx="4068360" cy="685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38"/>
          <p:cNvSpPr/>
          <p:nvPr/>
        </p:nvSpPr>
        <p:spPr>
          <a:xfrm>
            <a:off x="3127320" y="512964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Часть проблем может выявиться поздно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39"/>
          <p:cNvSpPr/>
          <p:nvPr/>
        </p:nvSpPr>
        <p:spPr>
          <a:xfrm>
            <a:off x="7360920" y="5020200"/>
            <a:ext cx="4068360" cy="685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40"/>
          <p:cNvSpPr/>
          <p:nvPr/>
        </p:nvSpPr>
        <p:spPr>
          <a:xfrm>
            <a:off x="7470720" y="5129640"/>
            <a:ext cx="3848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Гипотезы и решения проверяются раньше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41"/>
          <p:cNvSpPr/>
          <p:nvPr/>
        </p:nvSpPr>
        <p:spPr>
          <a:xfrm>
            <a:off x="777240" y="5989320"/>
            <a:ext cx="10606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Это не противопоставление «хорошего» и «плохого»: гибридные модели сочетают долгосрочные контрольные точки с гибкой разработкой.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42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Kanban: управляем потоком задач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731520" y="1234440"/>
            <a:ext cx="10606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Визуализируйте работу и ограничивайте количество задач, которые команда делает одновременно.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6"/>
          <p:cNvSpPr/>
          <p:nvPr/>
        </p:nvSpPr>
        <p:spPr>
          <a:xfrm>
            <a:off x="713160" y="1965960"/>
            <a:ext cx="2513880" cy="2742480"/>
          </a:xfrm>
          <a:prstGeom prst="roundRect">
            <a:avLst>
              <a:gd name="adj" fmla="val 12000"/>
            </a:avLst>
          </a:prstGeom>
          <a:solidFill>
            <a:srgbClr val="EDF2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7"/>
          <p:cNvSpPr/>
          <p:nvPr/>
        </p:nvSpPr>
        <p:spPr>
          <a:xfrm>
            <a:off x="713160" y="1965960"/>
            <a:ext cx="2513880" cy="438120"/>
          </a:xfrm>
          <a:prstGeom prst="rect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8"/>
          <p:cNvSpPr/>
          <p:nvPr/>
        </p:nvSpPr>
        <p:spPr>
          <a:xfrm>
            <a:off x="822960" y="2057400"/>
            <a:ext cx="22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Очередь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9"/>
          <p:cNvSpPr/>
          <p:nvPr/>
        </p:nvSpPr>
        <p:spPr>
          <a:xfrm>
            <a:off x="850320" y="2606040"/>
            <a:ext cx="2239560" cy="529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0"/>
          <p:cNvSpPr/>
          <p:nvPr/>
        </p:nvSpPr>
        <p:spPr>
          <a:xfrm>
            <a:off x="960120" y="27248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Триаж запросов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11"/>
          <p:cNvSpPr/>
          <p:nvPr/>
        </p:nvSpPr>
        <p:spPr>
          <a:xfrm>
            <a:off x="850320" y="3337560"/>
            <a:ext cx="2239560" cy="529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12"/>
          <p:cNvSpPr/>
          <p:nvPr/>
        </p:nvSpPr>
        <p:spPr>
          <a:xfrm>
            <a:off x="960120" y="345636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Уточнить требования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3"/>
          <p:cNvSpPr/>
          <p:nvPr/>
        </p:nvSpPr>
        <p:spPr>
          <a:xfrm>
            <a:off x="3566160" y="1965960"/>
            <a:ext cx="2513880" cy="2742480"/>
          </a:xfrm>
          <a:prstGeom prst="roundRect">
            <a:avLst>
              <a:gd name="adj" fmla="val 12000"/>
            </a:avLst>
          </a:prstGeom>
          <a:solidFill>
            <a:srgbClr val="EDF2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14"/>
          <p:cNvSpPr/>
          <p:nvPr/>
        </p:nvSpPr>
        <p:spPr>
          <a:xfrm>
            <a:off x="3566160" y="1965960"/>
            <a:ext cx="2513880" cy="43812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5"/>
          <p:cNvSpPr/>
          <p:nvPr/>
        </p:nvSpPr>
        <p:spPr>
          <a:xfrm>
            <a:off x="3675960" y="2057400"/>
            <a:ext cx="22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В работе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6"/>
          <p:cNvSpPr/>
          <p:nvPr/>
        </p:nvSpPr>
        <p:spPr>
          <a:xfrm>
            <a:off x="3703320" y="2606040"/>
            <a:ext cx="2239560" cy="529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3813120" y="27248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Реализация функции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18"/>
          <p:cNvSpPr/>
          <p:nvPr/>
        </p:nvSpPr>
        <p:spPr>
          <a:xfrm>
            <a:off x="6419160" y="1965960"/>
            <a:ext cx="2513880" cy="2742480"/>
          </a:xfrm>
          <a:prstGeom prst="roundRect">
            <a:avLst>
              <a:gd name="adj" fmla="val 12000"/>
            </a:avLst>
          </a:prstGeom>
          <a:solidFill>
            <a:srgbClr val="EDF2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19"/>
          <p:cNvSpPr/>
          <p:nvPr/>
        </p:nvSpPr>
        <p:spPr>
          <a:xfrm>
            <a:off x="6419160" y="1965960"/>
            <a:ext cx="2513880" cy="438120"/>
          </a:xfrm>
          <a:prstGeom prst="rect">
            <a:avLst/>
          </a:prstGeom>
          <a:solidFill>
            <a:srgbClr val="9174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20"/>
          <p:cNvSpPr/>
          <p:nvPr/>
        </p:nvSpPr>
        <p:spPr>
          <a:xfrm>
            <a:off x="6528960" y="2057400"/>
            <a:ext cx="22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Проверка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21"/>
          <p:cNvSpPr/>
          <p:nvPr/>
        </p:nvSpPr>
        <p:spPr>
          <a:xfrm>
            <a:off x="6556320" y="2606040"/>
            <a:ext cx="2239560" cy="529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22"/>
          <p:cNvSpPr/>
          <p:nvPr/>
        </p:nvSpPr>
        <p:spPr>
          <a:xfrm>
            <a:off x="6666120" y="27248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Тестирование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23"/>
          <p:cNvSpPr/>
          <p:nvPr/>
        </p:nvSpPr>
        <p:spPr>
          <a:xfrm>
            <a:off x="9272160" y="1965960"/>
            <a:ext cx="2513880" cy="2742480"/>
          </a:xfrm>
          <a:prstGeom prst="roundRect">
            <a:avLst>
              <a:gd name="adj" fmla="val 12000"/>
            </a:avLst>
          </a:prstGeom>
          <a:solidFill>
            <a:srgbClr val="EDF2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24"/>
          <p:cNvSpPr/>
          <p:nvPr/>
        </p:nvSpPr>
        <p:spPr>
          <a:xfrm>
            <a:off x="9272160" y="1965960"/>
            <a:ext cx="2513880" cy="43812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25"/>
          <p:cNvSpPr/>
          <p:nvPr/>
        </p:nvSpPr>
        <p:spPr>
          <a:xfrm>
            <a:off x="9381600" y="2057400"/>
            <a:ext cx="22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Готово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26"/>
          <p:cNvSpPr/>
          <p:nvPr/>
        </p:nvSpPr>
        <p:spPr>
          <a:xfrm>
            <a:off x="9409320" y="2606040"/>
            <a:ext cx="2239560" cy="529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27"/>
          <p:cNvSpPr/>
          <p:nvPr/>
        </p:nvSpPr>
        <p:spPr>
          <a:xfrm>
            <a:off x="9518760" y="27248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Релиз 1.2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28"/>
          <p:cNvSpPr/>
          <p:nvPr/>
        </p:nvSpPr>
        <p:spPr>
          <a:xfrm>
            <a:off x="777240" y="5074920"/>
            <a:ext cx="5119920" cy="867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29"/>
          <p:cNvSpPr/>
          <p:nvPr/>
        </p:nvSpPr>
        <p:spPr>
          <a:xfrm>
            <a:off x="777240" y="5074920"/>
            <a:ext cx="72360" cy="86796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30"/>
          <p:cNvSpPr/>
          <p:nvPr/>
        </p:nvSpPr>
        <p:spPr>
          <a:xfrm>
            <a:off x="978480" y="5221080"/>
            <a:ext cx="4754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WIP — лимит незавершённой работы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31"/>
          <p:cNvSpPr/>
          <p:nvPr/>
        </p:nvSpPr>
        <p:spPr>
          <a:xfrm>
            <a:off x="978480" y="5641920"/>
            <a:ext cx="47541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Меньше переключений и ожидания, больше фокуса.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32"/>
          <p:cNvSpPr/>
          <p:nvPr/>
        </p:nvSpPr>
        <p:spPr>
          <a:xfrm>
            <a:off x="6217920" y="5074920"/>
            <a:ext cx="5119920" cy="867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33"/>
          <p:cNvSpPr/>
          <p:nvPr/>
        </p:nvSpPr>
        <p:spPr>
          <a:xfrm>
            <a:off x="6217920" y="5074920"/>
            <a:ext cx="72360" cy="86796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34"/>
          <p:cNvSpPr/>
          <p:nvPr/>
        </p:nvSpPr>
        <p:spPr>
          <a:xfrm>
            <a:off x="6419160" y="5221080"/>
            <a:ext cx="4754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Где полезен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35"/>
          <p:cNvSpPr/>
          <p:nvPr/>
        </p:nvSpPr>
        <p:spPr>
          <a:xfrm>
            <a:off x="6419160" y="5641920"/>
            <a:ext cx="47541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Поддержка, заявки, маркетинг и непрерывный поток задач.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36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Lean: ценность без лишних потерь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5"/>
          <p:cNvSpPr/>
          <p:nvPr/>
        </p:nvSpPr>
        <p:spPr>
          <a:xfrm>
            <a:off x="731520" y="12618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Цель Lean — максимизировать ценность для клиента, устраняя работу, которая не приносит пользы.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6"/>
          <p:cNvSpPr/>
          <p:nvPr/>
        </p:nvSpPr>
        <p:spPr>
          <a:xfrm>
            <a:off x="777240" y="2057400"/>
            <a:ext cx="3336840" cy="74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Oval 7"/>
          <p:cNvSpPr/>
          <p:nvPr/>
        </p:nvSpPr>
        <p:spPr>
          <a:xfrm>
            <a:off x="941760" y="2240280"/>
            <a:ext cx="319320" cy="31932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1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8"/>
          <p:cNvSpPr/>
          <p:nvPr/>
        </p:nvSpPr>
        <p:spPr>
          <a:xfrm>
            <a:off x="1398960" y="224028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Ожидание решений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9"/>
          <p:cNvSpPr/>
          <p:nvPr/>
        </p:nvSpPr>
        <p:spPr>
          <a:xfrm>
            <a:off x="4544640" y="2057400"/>
            <a:ext cx="3336840" cy="74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Oval 10"/>
          <p:cNvSpPr/>
          <p:nvPr/>
        </p:nvSpPr>
        <p:spPr>
          <a:xfrm>
            <a:off x="4709160" y="2240280"/>
            <a:ext cx="319320" cy="31932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2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1"/>
          <p:cNvSpPr/>
          <p:nvPr/>
        </p:nvSpPr>
        <p:spPr>
          <a:xfrm>
            <a:off x="5166360" y="224028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Лишние согласования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12"/>
          <p:cNvSpPr/>
          <p:nvPr/>
        </p:nvSpPr>
        <p:spPr>
          <a:xfrm>
            <a:off x="8312040" y="2057400"/>
            <a:ext cx="3336840" cy="74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Oval 13"/>
          <p:cNvSpPr/>
          <p:nvPr/>
        </p:nvSpPr>
        <p:spPr>
          <a:xfrm>
            <a:off x="8476560" y="2240280"/>
            <a:ext cx="319320" cy="31932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3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4"/>
          <p:cNvSpPr/>
          <p:nvPr/>
        </p:nvSpPr>
        <p:spPr>
          <a:xfrm>
            <a:off x="8933760" y="224028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Дефекты и переделки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15"/>
          <p:cNvSpPr/>
          <p:nvPr/>
        </p:nvSpPr>
        <p:spPr>
          <a:xfrm>
            <a:off x="777240" y="3108960"/>
            <a:ext cx="3336840" cy="74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Oval 16"/>
          <p:cNvSpPr/>
          <p:nvPr/>
        </p:nvSpPr>
        <p:spPr>
          <a:xfrm>
            <a:off x="941760" y="3291840"/>
            <a:ext cx="319320" cy="31932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4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7"/>
          <p:cNvSpPr/>
          <p:nvPr/>
        </p:nvSpPr>
        <p:spPr>
          <a:xfrm>
            <a:off x="1398960" y="32918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Невостребованные функции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18"/>
          <p:cNvSpPr/>
          <p:nvPr/>
        </p:nvSpPr>
        <p:spPr>
          <a:xfrm>
            <a:off x="4544640" y="3108960"/>
            <a:ext cx="3336840" cy="74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Oval 19"/>
          <p:cNvSpPr/>
          <p:nvPr/>
        </p:nvSpPr>
        <p:spPr>
          <a:xfrm>
            <a:off x="4709160" y="3291840"/>
            <a:ext cx="319320" cy="31932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5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0"/>
          <p:cNvSpPr/>
          <p:nvPr/>
        </p:nvSpPr>
        <p:spPr>
          <a:xfrm>
            <a:off x="5166360" y="32918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Избыточная отчётность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21"/>
          <p:cNvSpPr/>
          <p:nvPr/>
        </p:nvSpPr>
        <p:spPr>
          <a:xfrm>
            <a:off x="8312040" y="3108960"/>
            <a:ext cx="3336840" cy="74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Oval 22"/>
          <p:cNvSpPr/>
          <p:nvPr/>
        </p:nvSpPr>
        <p:spPr>
          <a:xfrm>
            <a:off x="8476560" y="3291840"/>
            <a:ext cx="319320" cy="31932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6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3"/>
          <p:cNvSpPr/>
          <p:nvPr/>
        </p:nvSpPr>
        <p:spPr>
          <a:xfrm>
            <a:off x="8933760" y="32918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Неиспользованный потенциал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24"/>
          <p:cNvSpPr/>
          <p:nvPr/>
        </p:nvSpPr>
        <p:spPr>
          <a:xfrm>
            <a:off x="822960" y="4526280"/>
            <a:ext cx="10514880" cy="1050840"/>
          </a:xfrm>
          <a:prstGeom prst="roundRect">
            <a:avLst>
              <a:gd name="adj" fmla="val 12000"/>
            </a:avLst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5"/>
          <p:cNvSpPr/>
          <p:nvPr/>
        </p:nvSpPr>
        <p:spPr>
          <a:xfrm>
            <a:off x="1051560" y="4736520"/>
            <a:ext cx="10057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Практика: создать минимально жизнеспособный продукт (MVP), проверить гипотезу на пользователях и развивать только то, что подтверждает ценность.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6"/>
          <p:cNvSpPr/>
          <p:nvPr/>
        </p:nvSpPr>
        <p:spPr>
          <a:xfrm>
            <a:off x="868680" y="5806440"/>
            <a:ext cx="10240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DE6666"/>
                </a:solidFill>
                <a:effectLst/>
                <a:uFillTx/>
                <a:latin typeface="Aptos"/>
              </a:rPr>
              <a:t>Риск: чрезмерная экономия без внимания к качеству ведёт к техническому долгу и перегрузке команды.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27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Crystal: методология под команду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731520" y="1280160"/>
            <a:ext cx="10606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Crystal — семейство подходов, в котором процесс адаптируют к размеру команды и критичности продукта.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Oval 6"/>
          <p:cNvSpPr/>
          <p:nvPr/>
        </p:nvSpPr>
        <p:spPr>
          <a:xfrm>
            <a:off x="1920240" y="2331720"/>
            <a:ext cx="822240" cy="82224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1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822960" y="333756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Люди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932760" y="3822120"/>
            <a:ext cx="2788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Коммуникация и сотрудничество важнее жёсткого регламента.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Oval 9"/>
          <p:cNvSpPr/>
          <p:nvPr/>
        </p:nvSpPr>
        <p:spPr>
          <a:xfrm>
            <a:off x="5687640" y="2331720"/>
            <a:ext cx="822240" cy="822240"/>
          </a:xfrm>
          <a:prstGeom prst="ellipse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2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4590360" y="333756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Адаптация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4700160" y="3822120"/>
            <a:ext cx="2788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Процесс меняется под конкретную ситуацию.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Oval 12"/>
          <p:cNvSpPr/>
          <p:nvPr/>
        </p:nvSpPr>
        <p:spPr>
          <a:xfrm>
            <a:off x="9455040" y="2331720"/>
            <a:ext cx="822240" cy="82224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3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3"/>
          <p:cNvSpPr/>
          <p:nvPr/>
        </p:nvSpPr>
        <p:spPr>
          <a:xfrm>
            <a:off x="8357760" y="333756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Поставка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8467200" y="3822120"/>
            <a:ext cx="2788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Рабочий продукт появляется регулярно.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15"/>
          <p:cNvSpPr/>
          <p:nvPr/>
        </p:nvSpPr>
        <p:spPr>
          <a:xfrm>
            <a:off x="914400" y="5166360"/>
            <a:ext cx="4799880" cy="822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ectangle 16"/>
          <p:cNvSpPr/>
          <p:nvPr/>
        </p:nvSpPr>
        <p:spPr>
          <a:xfrm>
            <a:off x="914400" y="5166360"/>
            <a:ext cx="72360" cy="82224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7"/>
          <p:cNvSpPr/>
          <p:nvPr/>
        </p:nvSpPr>
        <p:spPr>
          <a:xfrm>
            <a:off x="1098000" y="5232960"/>
            <a:ext cx="4434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Сильная сторона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8"/>
          <p:cNvSpPr/>
          <p:nvPr/>
        </p:nvSpPr>
        <p:spPr>
          <a:xfrm>
            <a:off x="1098000" y="5644800"/>
            <a:ext cx="44341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Учитывает человеческий фактор и различия команд.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19"/>
          <p:cNvSpPr/>
          <p:nvPr/>
        </p:nvSpPr>
        <p:spPr>
          <a:xfrm>
            <a:off x="6400800" y="5166360"/>
            <a:ext cx="4799880" cy="822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ectangle 20"/>
          <p:cNvSpPr/>
          <p:nvPr/>
        </p:nvSpPr>
        <p:spPr>
          <a:xfrm>
            <a:off x="6400800" y="5166360"/>
            <a:ext cx="72360" cy="82224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6602040" y="5232960"/>
            <a:ext cx="4434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Ограничение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2"/>
          <p:cNvSpPr/>
          <p:nvPr/>
        </p:nvSpPr>
        <p:spPr>
          <a:xfrm>
            <a:off x="6602040" y="5579640"/>
            <a:ext cx="44341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Нужен опыт, чтобы выбрать достаточный уровень формализации.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23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/>
          <p:nvPr/>
        </p:nvSpPr>
        <p:spPr>
          <a:xfrm>
            <a:off x="822960" y="320040"/>
            <a:ext cx="106977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Crystal: варианты по цветам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731520" y="117036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Цвет условно отражает масштаб команды и критичность системы: чем выше риск и больше людей, тем больше координации и формализации.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5"/>
          <p:cNvSpPr/>
          <p:nvPr/>
        </p:nvSpPr>
        <p:spPr>
          <a:xfrm>
            <a:off x="731520" y="1938600"/>
            <a:ext cx="3428280" cy="1370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6"/>
          <p:cNvSpPr/>
          <p:nvPr/>
        </p:nvSpPr>
        <p:spPr>
          <a:xfrm>
            <a:off x="731520" y="1938600"/>
            <a:ext cx="63360" cy="137088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914400" y="205740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Clear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8"/>
          <p:cNvSpPr/>
          <p:nvPr/>
        </p:nvSpPr>
        <p:spPr>
          <a:xfrm>
            <a:off x="914400" y="2441520"/>
            <a:ext cx="31082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Очень небольшие команды; лёгкий процесс и тесное общение.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ounded Rectangle 9"/>
          <p:cNvSpPr/>
          <p:nvPr/>
        </p:nvSpPr>
        <p:spPr>
          <a:xfrm>
            <a:off x="4526280" y="1938600"/>
            <a:ext cx="3428280" cy="1370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10"/>
          <p:cNvSpPr/>
          <p:nvPr/>
        </p:nvSpPr>
        <p:spPr>
          <a:xfrm>
            <a:off x="4526280" y="1938600"/>
            <a:ext cx="63360" cy="1370880"/>
          </a:xfrm>
          <a:prstGeom prst="rect">
            <a:avLst/>
          </a:prstGeom>
          <a:solidFill>
            <a:srgbClr val="DAB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1"/>
          <p:cNvSpPr/>
          <p:nvPr/>
        </p:nvSpPr>
        <p:spPr>
          <a:xfrm>
            <a:off x="4709160" y="205740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Yellow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2"/>
          <p:cNvSpPr/>
          <p:nvPr/>
        </p:nvSpPr>
        <p:spPr>
          <a:xfrm>
            <a:off x="4709160" y="2441520"/>
            <a:ext cx="31082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Небольшие команды; больше согласования и документации.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13"/>
          <p:cNvSpPr/>
          <p:nvPr/>
        </p:nvSpPr>
        <p:spPr>
          <a:xfrm>
            <a:off x="8321040" y="1938600"/>
            <a:ext cx="3428280" cy="1370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ectangle 14"/>
          <p:cNvSpPr/>
          <p:nvPr/>
        </p:nvSpPr>
        <p:spPr>
          <a:xfrm>
            <a:off x="8321040" y="1938600"/>
            <a:ext cx="63360" cy="137088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5"/>
          <p:cNvSpPr/>
          <p:nvPr/>
        </p:nvSpPr>
        <p:spPr>
          <a:xfrm>
            <a:off x="8503920" y="205740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Orange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8503920" y="2441520"/>
            <a:ext cx="31082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Команды среднего размера; роли, планирование и координация заметнее.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17"/>
          <p:cNvSpPr/>
          <p:nvPr/>
        </p:nvSpPr>
        <p:spPr>
          <a:xfrm>
            <a:off x="731520" y="3602880"/>
            <a:ext cx="3428280" cy="1370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Rectangle 18"/>
          <p:cNvSpPr/>
          <p:nvPr/>
        </p:nvSpPr>
        <p:spPr>
          <a:xfrm>
            <a:off x="731520" y="3602880"/>
            <a:ext cx="63360" cy="1370880"/>
          </a:xfrm>
          <a:prstGeom prst="rect">
            <a:avLst/>
          </a:prstGeom>
          <a:solidFill>
            <a:srgbClr val="DE66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19"/>
          <p:cNvSpPr/>
          <p:nvPr/>
        </p:nvSpPr>
        <p:spPr>
          <a:xfrm>
            <a:off x="914400" y="37216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Red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0"/>
          <p:cNvSpPr/>
          <p:nvPr/>
        </p:nvSpPr>
        <p:spPr>
          <a:xfrm>
            <a:off x="914400" y="4105800"/>
            <a:ext cx="31082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Более крупные команды; нужны более формальные механизмы управления.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ounded Rectangle 21"/>
          <p:cNvSpPr/>
          <p:nvPr/>
        </p:nvSpPr>
        <p:spPr>
          <a:xfrm>
            <a:off x="4526280" y="3602880"/>
            <a:ext cx="3428280" cy="1370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22"/>
          <p:cNvSpPr/>
          <p:nvPr/>
        </p:nvSpPr>
        <p:spPr>
          <a:xfrm>
            <a:off x="4526280" y="3602880"/>
            <a:ext cx="63360" cy="1370880"/>
          </a:xfrm>
          <a:prstGeom prst="rect">
            <a:avLst/>
          </a:prstGeom>
          <a:solidFill>
            <a:srgbClr val="872F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23"/>
          <p:cNvSpPr/>
          <p:nvPr/>
        </p:nvSpPr>
        <p:spPr>
          <a:xfrm>
            <a:off x="4709160" y="37216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Maroon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24"/>
          <p:cNvSpPr/>
          <p:nvPr/>
        </p:nvSpPr>
        <p:spPr>
          <a:xfrm>
            <a:off x="4709160" y="4105800"/>
            <a:ext cx="31082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Большие проекты; координация и контроль становятся существеннее.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25"/>
          <p:cNvSpPr/>
          <p:nvPr/>
        </p:nvSpPr>
        <p:spPr>
          <a:xfrm>
            <a:off x="8321040" y="3602880"/>
            <a:ext cx="3428280" cy="1370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ectangle 26"/>
          <p:cNvSpPr/>
          <p:nvPr/>
        </p:nvSpPr>
        <p:spPr>
          <a:xfrm>
            <a:off x="8321040" y="3602880"/>
            <a:ext cx="63360" cy="1370880"/>
          </a:xfrm>
          <a:prstGeom prst="rect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27"/>
          <p:cNvSpPr/>
          <p:nvPr/>
        </p:nvSpPr>
        <p:spPr>
          <a:xfrm>
            <a:off x="8503920" y="37216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Diamond / Sapphire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8"/>
          <p:cNvSpPr/>
          <p:nvPr/>
        </p:nvSpPr>
        <p:spPr>
          <a:xfrm>
            <a:off x="8503920" y="4105800"/>
            <a:ext cx="31082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Высокая критичность, например безопасность или финансовые последствия; больше строгости и контроля.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9"/>
          <p:cNvSpPr/>
          <p:nvPr/>
        </p:nvSpPr>
        <p:spPr>
          <a:xfrm>
            <a:off x="822960" y="5532120"/>
            <a:ext cx="10423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66768A"/>
                </a:solidFill>
                <a:effectLst/>
                <a:uFillTx/>
                <a:latin typeface="Aptos"/>
              </a:rPr>
              <a:t>Названия и границы вариантов в разных описаниях Crystal могут немного различаться; цвет — ориентир, а не универсальная шкала.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30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Box 1"/>
          <p:cNvSpPr/>
          <p:nvPr/>
        </p:nvSpPr>
        <p:spPr>
          <a:xfrm>
            <a:off x="822960" y="320040"/>
            <a:ext cx="106977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Crystal: как выбрать подходящий вариант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4"/>
          <p:cNvSpPr/>
          <p:nvPr/>
        </p:nvSpPr>
        <p:spPr>
          <a:xfrm>
            <a:off x="731520" y="1170360"/>
            <a:ext cx="10606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При выборе оценивают не только численность команды, но и цену ошибки, требования к безопасности и потребность в подтверждении соответствия.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5"/>
          <p:cNvSpPr/>
          <p:nvPr/>
        </p:nvSpPr>
        <p:spPr>
          <a:xfrm>
            <a:off x="777240" y="2057400"/>
            <a:ext cx="507420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Rectangle 6"/>
          <p:cNvSpPr/>
          <p:nvPr/>
        </p:nvSpPr>
        <p:spPr>
          <a:xfrm>
            <a:off x="777240" y="2057400"/>
            <a:ext cx="63360" cy="123372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7"/>
          <p:cNvSpPr/>
          <p:nvPr/>
        </p:nvSpPr>
        <p:spPr>
          <a:xfrm>
            <a:off x="960120" y="21762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1. Размер команды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8"/>
          <p:cNvSpPr/>
          <p:nvPr/>
        </p:nvSpPr>
        <p:spPr>
          <a:xfrm>
            <a:off x="960120" y="2560320"/>
            <a:ext cx="475416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Чем больше участников, тем важнее явные договорённости, роли и синхронизация.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9"/>
          <p:cNvSpPr/>
          <p:nvPr/>
        </p:nvSpPr>
        <p:spPr>
          <a:xfrm>
            <a:off x="6263640" y="2057400"/>
            <a:ext cx="507420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ectangle 10"/>
          <p:cNvSpPr/>
          <p:nvPr/>
        </p:nvSpPr>
        <p:spPr>
          <a:xfrm>
            <a:off x="6263640" y="2057400"/>
            <a:ext cx="63360" cy="1233720"/>
          </a:xfrm>
          <a:prstGeom prst="rect">
            <a:avLst/>
          </a:prstGeom>
          <a:solidFill>
            <a:srgbClr val="DE66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11"/>
          <p:cNvSpPr/>
          <p:nvPr/>
        </p:nvSpPr>
        <p:spPr>
          <a:xfrm>
            <a:off x="6446520" y="21762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2. Критичность продукта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12"/>
          <p:cNvSpPr/>
          <p:nvPr/>
        </p:nvSpPr>
        <p:spPr>
          <a:xfrm>
            <a:off x="6446520" y="2560320"/>
            <a:ext cx="475416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Если ошибка может привести к серьёзному ущербу, нужны более строгие проверки и контроль.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13"/>
          <p:cNvSpPr/>
          <p:nvPr/>
        </p:nvSpPr>
        <p:spPr>
          <a:xfrm>
            <a:off x="777240" y="3657600"/>
            <a:ext cx="507420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Rectangle 14"/>
          <p:cNvSpPr/>
          <p:nvPr/>
        </p:nvSpPr>
        <p:spPr>
          <a:xfrm>
            <a:off x="777240" y="3657600"/>
            <a:ext cx="63360" cy="1233720"/>
          </a:xfrm>
          <a:prstGeom prst="rect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15"/>
          <p:cNvSpPr/>
          <p:nvPr/>
        </p:nvSpPr>
        <p:spPr>
          <a:xfrm>
            <a:off x="960120" y="37764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3. Коммуникация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6"/>
          <p:cNvSpPr/>
          <p:nvPr/>
        </p:nvSpPr>
        <p:spPr>
          <a:xfrm>
            <a:off x="960120" y="4160520"/>
            <a:ext cx="475416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Частые прямые контакты помогают небольшой команде обходиться меньшим количеством регламентов.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17"/>
          <p:cNvSpPr/>
          <p:nvPr/>
        </p:nvSpPr>
        <p:spPr>
          <a:xfrm>
            <a:off x="6263640" y="3657600"/>
            <a:ext cx="507420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18"/>
          <p:cNvSpPr/>
          <p:nvPr/>
        </p:nvSpPr>
        <p:spPr>
          <a:xfrm>
            <a:off x="6263640" y="3657600"/>
            <a:ext cx="63360" cy="123372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19"/>
          <p:cNvSpPr/>
          <p:nvPr/>
        </p:nvSpPr>
        <p:spPr>
          <a:xfrm>
            <a:off x="6446520" y="37764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4. Регулярное улучшение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20"/>
          <p:cNvSpPr/>
          <p:nvPr/>
        </p:nvSpPr>
        <p:spPr>
          <a:xfrm>
            <a:off x="6446520" y="4160520"/>
            <a:ext cx="475416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Команда анализирует, что мешает поставке, и подстраивает процесс под реальные задачи.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21"/>
          <p:cNvSpPr/>
          <p:nvPr/>
        </p:nvSpPr>
        <p:spPr>
          <a:xfrm>
            <a:off x="851040" y="5349240"/>
            <a:ext cx="10467720" cy="770760"/>
          </a:xfrm>
          <a:prstGeom prst="roundRect">
            <a:avLst>
              <a:gd name="adj" fmla="val 12000"/>
            </a:avLst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22"/>
          <p:cNvSpPr/>
          <p:nvPr/>
        </p:nvSpPr>
        <p:spPr>
          <a:xfrm>
            <a:off x="1051560" y="550476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Принцип Crystal: выбрать минимально достаточный процесс — не перегружать команду, но и не игнорировать риски.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ounded Rectangle 23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SAFe: масштабирование Agile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5"/>
          <p:cNvSpPr/>
          <p:nvPr/>
        </p:nvSpPr>
        <p:spPr>
          <a:xfrm>
            <a:off x="731520" y="126180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SAFe помогает согласовать работу множества команд, бизнес-направлений и стратегических целей.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6"/>
          <p:cNvSpPr/>
          <p:nvPr/>
        </p:nvSpPr>
        <p:spPr>
          <a:xfrm>
            <a:off x="1659600" y="1965960"/>
            <a:ext cx="8868960" cy="621000"/>
          </a:xfrm>
          <a:prstGeom prst="roundRect">
            <a:avLst>
              <a:gd name="adj" fmla="val 12000"/>
            </a:avLst>
          </a:prstGeom>
          <a:solidFill>
            <a:srgbClr val="13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7"/>
          <p:cNvSpPr/>
          <p:nvPr/>
        </p:nvSpPr>
        <p:spPr>
          <a:xfrm>
            <a:off x="1824120" y="203904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Портфель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8"/>
          <p:cNvSpPr/>
          <p:nvPr/>
        </p:nvSpPr>
        <p:spPr>
          <a:xfrm>
            <a:off x="3991320" y="2039040"/>
            <a:ext cx="6308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Стратегия и инвестиции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ounded Rectangle 9"/>
          <p:cNvSpPr/>
          <p:nvPr/>
        </p:nvSpPr>
        <p:spPr>
          <a:xfrm>
            <a:off x="2048400" y="2770560"/>
            <a:ext cx="8091720" cy="621000"/>
          </a:xfrm>
          <a:prstGeom prst="roundRect">
            <a:avLst>
              <a:gd name="adj" fmla="val 12000"/>
            </a:avLst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10"/>
          <p:cNvSpPr/>
          <p:nvPr/>
        </p:nvSpPr>
        <p:spPr>
          <a:xfrm>
            <a:off x="2212920" y="284364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Крупные решения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1"/>
          <p:cNvSpPr/>
          <p:nvPr/>
        </p:nvSpPr>
        <p:spPr>
          <a:xfrm>
            <a:off x="4380120" y="2843640"/>
            <a:ext cx="5531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Архитектура и зависимости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12"/>
          <p:cNvSpPr/>
          <p:nvPr/>
        </p:nvSpPr>
        <p:spPr>
          <a:xfrm>
            <a:off x="2436840" y="3575160"/>
            <a:ext cx="7314480" cy="621000"/>
          </a:xfrm>
          <a:prstGeom prst="roundRect">
            <a:avLst>
              <a:gd name="adj" fmla="val 12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3"/>
          <p:cNvSpPr/>
          <p:nvPr/>
        </p:nvSpPr>
        <p:spPr>
          <a:xfrm>
            <a:off x="2601360" y="364860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Программа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4"/>
          <p:cNvSpPr/>
          <p:nvPr/>
        </p:nvSpPr>
        <p:spPr>
          <a:xfrm>
            <a:off x="4768560" y="364860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Общий ритм поставки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ounded Rectangle 15"/>
          <p:cNvSpPr/>
          <p:nvPr/>
        </p:nvSpPr>
        <p:spPr>
          <a:xfrm>
            <a:off x="2825640" y="4380120"/>
            <a:ext cx="6537240" cy="621000"/>
          </a:xfrm>
          <a:prstGeom prst="roundRect">
            <a:avLst>
              <a:gd name="adj" fmla="val 12000"/>
            </a:avLst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16"/>
          <p:cNvSpPr/>
          <p:nvPr/>
        </p:nvSpPr>
        <p:spPr>
          <a:xfrm>
            <a:off x="2990160" y="445320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Команда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7"/>
          <p:cNvSpPr/>
          <p:nvPr/>
        </p:nvSpPr>
        <p:spPr>
          <a:xfrm>
            <a:off x="5157360" y="4453200"/>
            <a:ext cx="39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Ежедневная разработка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8"/>
          <p:cNvSpPr/>
          <p:nvPr/>
        </p:nvSpPr>
        <p:spPr>
          <a:xfrm>
            <a:off x="822960" y="5486400"/>
            <a:ext cx="10423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Подходит крупным организациям и программам с большим числом зависимостей.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9"/>
          <p:cNvSpPr/>
          <p:nvPr/>
        </p:nvSpPr>
        <p:spPr>
          <a:xfrm>
            <a:off x="868680" y="5897880"/>
            <a:ext cx="10332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DE6666"/>
                </a:solidFill>
                <a:effectLst/>
                <a:uFillTx/>
                <a:latin typeface="Aptos"/>
              </a:rPr>
              <a:t>Минус: внедрение сложное; без изменения культуры фреймворк рискует стать набором формальностей.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20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ounded Rectangle 1"/>
          <p:cNvSpPr/>
          <p:nvPr/>
        </p:nvSpPr>
        <p:spPr>
          <a:xfrm>
            <a:off x="567000" y="329040"/>
            <a:ext cx="90720" cy="438120"/>
          </a:xfrm>
          <a:prstGeom prst="roundRect">
            <a:avLst>
              <a:gd name="adj" fmla="val 16667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2"/>
          <p:cNvSpPr/>
          <p:nvPr/>
        </p:nvSpPr>
        <p:spPr>
          <a:xfrm>
            <a:off x="822960" y="292680"/>
            <a:ext cx="10697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SAFe: как работает масштабирование Agile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3"/>
          <p:cNvSpPr/>
          <p:nvPr/>
        </p:nvSpPr>
        <p:spPr>
          <a:xfrm>
            <a:off x="822960" y="100584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66768A"/>
                </a:solidFill>
                <a:effectLst/>
                <a:uFillTx/>
                <a:latin typeface="Aptos"/>
              </a:rPr>
              <a:t>Команды объединяются вокруг общего продукта или потока ценности и работают в согласованном ритме.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ounded Rectangle 4"/>
          <p:cNvSpPr/>
          <p:nvPr/>
        </p:nvSpPr>
        <p:spPr>
          <a:xfrm>
            <a:off x="777240" y="1783080"/>
            <a:ext cx="5074200" cy="1325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Rectangle 5"/>
          <p:cNvSpPr/>
          <p:nvPr/>
        </p:nvSpPr>
        <p:spPr>
          <a:xfrm>
            <a:off x="777240" y="1783080"/>
            <a:ext cx="63360" cy="132516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6"/>
          <p:cNvSpPr/>
          <p:nvPr/>
        </p:nvSpPr>
        <p:spPr>
          <a:xfrm>
            <a:off x="960120" y="190188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PI Planning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7"/>
          <p:cNvSpPr/>
          <p:nvPr/>
        </p:nvSpPr>
        <p:spPr>
          <a:xfrm>
            <a:off x="960120" y="2277000"/>
            <a:ext cx="4754160" cy="7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Команды совместно планируют ближайший период, согласуют цели и выявляют зависимости.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Oval 8"/>
          <p:cNvSpPr/>
          <p:nvPr/>
        </p:nvSpPr>
        <p:spPr>
          <a:xfrm>
            <a:off x="5303520" y="1901880"/>
            <a:ext cx="346680" cy="34668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9"/>
          <p:cNvSpPr/>
          <p:nvPr/>
        </p:nvSpPr>
        <p:spPr>
          <a:xfrm>
            <a:off x="6263640" y="1783080"/>
            <a:ext cx="5074200" cy="1325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ectangle 10"/>
          <p:cNvSpPr/>
          <p:nvPr/>
        </p:nvSpPr>
        <p:spPr>
          <a:xfrm>
            <a:off x="6263640" y="1783080"/>
            <a:ext cx="63360" cy="1325160"/>
          </a:xfrm>
          <a:prstGeom prst="rect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11"/>
          <p:cNvSpPr/>
          <p:nvPr/>
        </p:nvSpPr>
        <p:spPr>
          <a:xfrm>
            <a:off x="6446520" y="190188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Работа итерациями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12"/>
          <p:cNvSpPr/>
          <p:nvPr/>
        </p:nvSpPr>
        <p:spPr>
          <a:xfrm>
            <a:off x="6446520" y="2277000"/>
            <a:ext cx="4754160" cy="7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Каждая команда выполняет задачи короткими циклами и регулярно проверяет качество.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Oval 13"/>
          <p:cNvSpPr/>
          <p:nvPr/>
        </p:nvSpPr>
        <p:spPr>
          <a:xfrm>
            <a:off x="10789920" y="1901880"/>
            <a:ext cx="346680" cy="346680"/>
          </a:xfrm>
          <a:prstGeom prst="ellipse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14"/>
          <p:cNvSpPr/>
          <p:nvPr/>
        </p:nvSpPr>
        <p:spPr>
          <a:xfrm>
            <a:off x="777240" y="3410640"/>
            <a:ext cx="5074200" cy="1325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Rectangle 15"/>
          <p:cNvSpPr/>
          <p:nvPr/>
        </p:nvSpPr>
        <p:spPr>
          <a:xfrm>
            <a:off x="777240" y="3410640"/>
            <a:ext cx="63360" cy="132516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16"/>
          <p:cNvSpPr/>
          <p:nvPr/>
        </p:nvSpPr>
        <p:spPr>
          <a:xfrm>
            <a:off x="960120" y="352944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Общая интеграция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7"/>
          <p:cNvSpPr/>
          <p:nvPr/>
        </p:nvSpPr>
        <p:spPr>
          <a:xfrm>
            <a:off x="960120" y="3904560"/>
            <a:ext cx="4754160" cy="7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Результаты команд регулярно объединяются, чтобы проблемы совместимости обнаруживались раньше.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Oval 18"/>
          <p:cNvSpPr/>
          <p:nvPr/>
        </p:nvSpPr>
        <p:spPr>
          <a:xfrm>
            <a:off x="5303520" y="3529440"/>
            <a:ext cx="346680" cy="34668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ounded Rectangle 19"/>
          <p:cNvSpPr/>
          <p:nvPr/>
        </p:nvSpPr>
        <p:spPr>
          <a:xfrm>
            <a:off x="6263640" y="3410640"/>
            <a:ext cx="5074200" cy="1325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Rectangle 20"/>
          <p:cNvSpPr/>
          <p:nvPr/>
        </p:nvSpPr>
        <p:spPr>
          <a:xfrm>
            <a:off x="6263640" y="3410640"/>
            <a:ext cx="63360" cy="1325160"/>
          </a:xfrm>
          <a:prstGeom prst="rect">
            <a:avLst/>
          </a:prstGeom>
          <a:solidFill>
            <a:srgbClr val="DE66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21"/>
          <p:cNvSpPr/>
          <p:nvPr/>
        </p:nvSpPr>
        <p:spPr>
          <a:xfrm>
            <a:off x="6446520" y="352944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Обзор и адаптация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2"/>
          <p:cNvSpPr/>
          <p:nvPr/>
        </p:nvSpPr>
        <p:spPr>
          <a:xfrm>
            <a:off x="6446520" y="3904560"/>
            <a:ext cx="4754160" cy="7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Участники оценивают общий результат, устраняют препятствия и корректируют следующий план.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Oval 23"/>
          <p:cNvSpPr/>
          <p:nvPr/>
        </p:nvSpPr>
        <p:spPr>
          <a:xfrm>
            <a:off x="10789920" y="3529440"/>
            <a:ext cx="346680" cy="346680"/>
          </a:xfrm>
          <a:prstGeom prst="ellipse">
            <a:avLst/>
          </a:prstGeom>
          <a:solidFill>
            <a:srgbClr val="DE66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Rounded Rectangle 24"/>
          <p:cNvSpPr/>
          <p:nvPr/>
        </p:nvSpPr>
        <p:spPr>
          <a:xfrm>
            <a:off x="868680" y="5349240"/>
            <a:ext cx="10377720" cy="657720"/>
          </a:xfrm>
          <a:prstGeom prst="roundRect">
            <a:avLst>
              <a:gd name="adj" fmla="val 12000"/>
            </a:avLst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25"/>
          <p:cNvSpPr/>
          <p:nvPr/>
        </p:nvSpPr>
        <p:spPr>
          <a:xfrm>
            <a:off x="1051560" y="5523120"/>
            <a:ext cx="1001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Смысл SAFe: синхронизировать решения и поставку между командами, не отменяя командную гибкость.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Nexus: несколько команд — один продукт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5"/>
          <p:cNvSpPr/>
          <p:nvPr/>
        </p:nvSpPr>
        <p:spPr>
          <a:xfrm>
            <a:off x="731520" y="128016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Nexus фокусируется на интеграции результатов нескольких команд, работающих над единым продуктом.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6"/>
          <p:cNvSpPr/>
          <p:nvPr/>
        </p:nvSpPr>
        <p:spPr>
          <a:xfrm>
            <a:off x="914400" y="2194560"/>
            <a:ext cx="2010960" cy="657720"/>
          </a:xfrm>
          <a:prstGeom prst="roundRect">
            <a:avLst>
              <a:gd name="adj" fmla="val 12000"/>
            </a:avLst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7"/>
          <p:cNvSpPr/>
          <p:nvPr/>
        </p:nvSpPr>
        <p:spPr>
          <a:xfrm>
            <a:off x="1051560" y="235908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Команда A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9" name="Connector 8"/>
          <p:cNvCxnSpPr/>
          <p:nvPr/>
        </p:nvCxnSpPr>
        <p:spPr>
          <a:xfrm>
            <a:off x="2926080" y="2523600"/>
            <a:ext cx="2652480" cy="1089000"/>
          </a:xfrm>
          <a:prstGeom prst="straightConnector1">
            <a:avLst/>
          </a:prstGeom>
          <a:ln w="0">
            <a:solidFill>
              <a:srgbClr val="66768A"/>
            </a:solidFill>
          </a:ln>
        </p:spPr>
      </p:cxnSp>
      <p:sp>
        <p:nvSpPr>
          <p:cNvPr id="350" name="Rounded Rectangle 9"/>
          <p:cNvSpPr/>
          <p:nvPr/>
        </p:nvSpPr>
        <p:spPr>
          <a:xfrm>
            <a:off x="914400" y="3429000"/>
            <a:ext cx="2010960" cy="657720"/>
          </a:xfrm>
          <a:prstGeom prst="roundRect">
            <a:avLst>
              <a:gd name="adj" fmla="val 12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10"/>
          <p:cNvSpPr/>
          <p:nvPr/>
        </p:nvSpPr>
        <p:spPr>
          <a:xfrm>
            <a:off x="1051560" y="359352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Команда B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2" name="Connector 11"/>
          <p:cNvCxnSpPr/>
          <p:nvPr/>
        </p:nvCxnSpPr>
        <p:spPr>
          <a:xfrm flipV="1">
            <a:off x="2926080" y="3611880"/>
            <a:ext cx="2652480" cy="146880"/>
          </a:xfrm>
          <a:prstGeom prst="straightConnector1">
            <a:avLst/>
          </a:prstGeom>
          <a:ln w="0">
            <a:solidFill>
              <a:srgbClr val="66768A"/>
            </a:solidFill>
          </a:ln>
        </p:spPr>
      </p:cxnSp>
      <p:sp>
        <p:nvSpPr>
          <p:cNvPr id="353" name="Rounded Rectangle 12"/>
          <p:cNvSpPr/>
          <p:nvPr/>
        </p:nvSpPr>
        <p:spPr>
          <a:xfrm>
            <a:off x="914400" y="4663440"/>
            <a:ext cx="2010960" cy="657720"/>
          </a:xfrm>
          <a:prstGeom prst="roundRect">
            <a:avLst>
              <a:gd name="adj" fmla="val 12000"/>
            </a:avLst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13"/>
          <p:cNvSpPr/>
          <p:nvPr/>
        </p:nvSpPr>
        <p:spPr>
          <a:xfrm>
            <a:off x="1051560" y="482796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Команда C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5" name="Connector 14"/>
          <p:cNvCxnSpPr/>
          <p:nvPr/>
        </p:nvCxnSpPr>
        <p:spPr>
          <a:xfrm flipV="1">
            <a:off x="2926080" y="3611880"/>
            <a:ext cx="2652480" cy="1381320"/>
          </a:xfrm>
          <a:prstGeom prst="straightConnector1">
            <a:avLst/>
          </a:prstGeom>
          <a:ln w="0">
            <a:solidFill>
              <a:srgbClr val="66768A"/>
            </a:solidFill>
          </a:ln>
        </p:spPr>
      </p:cxnSp>
      <p:sp>
        <p:nvSpPr>
          <p:cNvPr id="356" name="Rounded Rectangle 15"/>
          <p:cNvSpPr/>
          <p:nvPr/>
        </p:nvSpPr>
        <p:spPr>
          <a:xfrm>
            <a:off x="5577840" y="2880360"/>
            <a:ext cx="2102400" cy="1416600"/>
          </a:xfrm>
          <a:prstGeom prst="roundRect">
            <a:avLst>
              <a:gd name="adj" fmla="val 12000"/>
            </a:avLst>
          </a:prstGeom>
          <a:solidFill>
            <a:srgbClr val="13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16"/>
          <p:cNvSpPr/>
          <p:nvPr/>
        </p:nvSpPr>
        <p:spPr>
          <a:xfrm>
            <a:off x="5806440" y="3246120"/>
            <a:ext cx="1645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Общая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интеграция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8" name="Connector 17"/>
          <p:cNvCxnSpPr/>
          <p:nvPr/>
        </p:nvCxnSpPr>
        <p:spPr>
          <a:xfrm>
            <a:off x="7680960" y="3611880"/>
            <a:ext cx="1463760" cy="720"/>
          </a:xfrm>
          <a:prstGeom prst="straightConnector1">
            <a:avLst/>
          </a:prstGeom>
          <a:ln w="38100">
            <a:solidFill>
              <a:srgbClr val="19AEA0"/>
            </a:solidFill>
            <a:round/>
          </a:ln>
        </p:spPr>
      </p:cxnSp>
      <p:sp>
        <p:nvSpPr>
          <p:cNvPr id="359" name="Rounded Rectangle 18"/>
          <p:cNvSpPr/>
          <p:nvPr/>
        </p:nvSpPr>
        <p:spPr>
          <a:xfrm>
            <a:off x="9144000" y="2926080"/>
            <a:ext cx="2102400" cy="1325160"/>
          </a:xfrm>
          <a:prstGeom prst="roundRect">
            <a:avLst>
              <a:gd name="adj" fmla="val 12000"/>
            </a:avLst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19"/>
          <p:cNvSpPr/>
          <p:nvPr/>
        </p:nvSpPr>
        <p:spPr>
          <a:xfrm>
            <a:off x="9372600" y="3273480"/>
            <a:ext cx="1645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Единый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продукт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20"/>
          <p:cNvSpPr/>
          <p:nvPr/>
        </p:nvSpPr>
        <p:spPr>
          <a:xfrm>
            <a:off x="822960" y="5806440"/>
            <a:ext cx="10514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Ключевой акцент: совместное планирование, прозрачные зависимости и регулярная интеграция — не в конце проекта, а постоянно.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21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Extreme Programming (XP): качество кода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5"/>
          <p:cNvSpPr/>
          <p:nvPr/>
        </p:nvSpPr>
        <p:spPr>
          <a:xfrm>
            <a:off x="731520" y="126180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XP ориентирован на быстрое реагирование на изменения и техническое качество программного продукта.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Rounded Rectangle 6"/>
          <p:cNvSpPr/>
          <p:nvPr/>
        </p:nvSpPr>
        <p:spPr>
          <a:xfrm>
            <a:off x="777240" y="1965960"/>
            <a:ext cx="5074200" cy="913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Rectangle 7"/>
          <p:cNvSpPr/>
          <p:nvPr/>
        </p:nvSpPr>
        <p:spPr>
          <a:xfrm>
            <a:off x="777240" y="1965960"/>
            <a:ext cx="72360" cy="91368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8"/>
          <p:cNvSpPr/>
          <p:nvPr/>
        </p:nvSpPr>
        <p:spPr>
          <a:xfrm>
            <a:off x="978480" y="2112120"/>
            <a:ext cx="4708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TDD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9"/>
          <p:cNvSpPr/>
          <p:nvPr/>
        </p:nvSpPr>
        <p:spPr>
          <a:xfrm>
            <a:off x="978480" y="2532960"/>
            <a:ext cx="470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Тесты до или вместе с кодом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ounded Rectangle 10"/>
          <p:cNvSpPr/>
          <p:nvPr/>
        </p:nvSpPr>
        <p:spPr>
          <a:xfrm>
            <a:off x="6263640" y="1965960"/>
            <a:ext cx="5074200" cy="913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Rectangle 11"/>
          <p:cNvSpPr/>
          <p:nvPr/>
        </p:nvSpPr>
        <p:spPr>
          <a:xfrm>
            <a:off x="6263640" y="1965960"/>
            <a:ext cx="72360" cy="91368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2"/>
          <p:cNvSpPr/>
          <p:nvPr/>
        </p:nvSpPr>
        <p:spPr>
          <a:xfrm>
            <a:off x="6464880" y="2112120"/>
            <a:ext cx="4708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Парное программирование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3"/>
          <p:cNvSpPr/>
          <p:nvPr/>
        </p:nvSpPr>
        <p:spPr>
          <a:xfrm>
            <a:off x="6464880" y="2532960"/>
            <a:ext cx="470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Два разработчика совместно решают задачу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ounded Rectangle 14"/>
          <p:cNvSpPr/>
          <p:nvPr/>
        </p:nvSpPr>
        <p:spPr>
          <a:xfrm>
            <a:off x="777240" y="3136320"/>
            <a:ext cx="5074200" cy="913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Rectangle 15"/>
          <p:cNvSpPr/>
          <p:nvPr/>
        </p:nvSpPr>
        <p:spPr>
          <a:xfrm>
            <a:off x="777240" y="3136320"/>
            <a:ext cx="72360" cy="91368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16"/>
          <p:cNvSpPr/>
          <p:nvPr/>
        </p:nvSpPr>
        <p:spPr>
          <a:xfrm>
            <a:off x="978480" y="3282840"/>
            <a:ext cx="4708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Непрерывная интеграция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17"/>
          <p:cNvSpPr/>
          <p:nvPr/>
        </p:nvSpPr>
        <p:spPr>
          <a:xfrm>
            <a:off x="978480" y="3703320"/>
            <a:ext cx="470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Изменения часто объединяются и проверяются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18"/>
          <p:cNvSpPr/>
          <p:nvPr/>
        </p:nvSpPr>
        <p:spPr>
          <a:xfrm>
            <a:off x="6263640" y="3136320"/>
            <a:ext cx="5074200" cy="913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Rectangle 19"/>
          <p:cNvSpPr/>
          <p:nvPr/>
        </p:nvSpPr>
        <p:spPr>
          <a:xfrm>
            <a:off x="6263640" y="3136320"/>
            <a:ext cx="72360" cy="91368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20"/>
          <p:cNvSpPr/>
          <p:nvPr/>
        </p:nvSpPr>
        <p:spPr>
          <a:xfrm>
            <a:off x="6464880" y="3282840"/>
            <a:ext cx="4708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Рефакторинг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1"/>
          <p:cNvSpPr/>
          <p:nvPr/>
        </p:nvSpPr>
        <p:spPr>
          <a:xfrm>
            <a:off x="6464880" y="3703320"/>
            <a:ext cx="470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Улучшение структуры без смены поведения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ounded Rectangle 22"/>
          <p:cNvSpPr/>
          <p:nvPr/>
        </p:nvSpPr>
        <p:spPr>
          <a:xfrm>
            <a:off x="777240" y="4306680"/>
            <a:ext cx="5074200" cy="913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ectangle 23"/>
          <p:cNvSpPr/>
          <p:nvPr/>
        </p:nvSpPr>
        <p:spPr>
          <a:xfrm>
            <a:off x="777240" y="4306680"/>
            <a:ext cx="72360" cy="91368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24"/>
          <p:cNvSpPr/>
          <p:nvPr/>
        </p:nvSpPr>
        <p:spPr>
          <a:xfrm>
            <a:off x="978480" y="4453200"/>
            <a:ext cx="4708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Малые релизы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25"/>
          <p:cNvSpPr/>
          <p:nvPr/>
        </p:nvSpPr>
        <p:spPr>
          <a:xfrm>
            <a:off x="978480" y="4873680"/>
            <a:ext cx="470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Частая поставка работающих версий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ounded Rectangle 26"/>
          <p:cNvSpPr/>
          <p:nvPr/>
        </p:nvSpPr>
        <p:spPr>
          <a:xfrm>
            <a:off x="6263640" y="4306680"/>
            <a:ext cx="5074200" cy="913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Rectangle 27"/>
          <p:cNvSpPr/>
          <p:nvPr/>
        </p:nvSpPr>
        <p:spPr>
          <a:xfrm>
            <a:off x="6263640" y="4306680"/>
            <a:ext cx="72360" cy="91368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28"/>
          <p:cNvSpPr/>
          <p:nvPr/>
        </p:nvSpPr>
        <p:spPr>
          <a:xfrm>
            <a:off x="6464880" y="4453200"/>
            <a:ext cx="4708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Простой дизайн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29"/>
          <p:cNvSpPr/>
          <p:nvPr/>
        </p:nvSpPr>
        <p:spPr>
          <a:xfrm>
            <a:off x="6464880" y="4873680"/>
            <a:ext cx="470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Не усложнять решение без необходимости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30"/>
          <p:cNvSpPr/>
          <p:nvPr/>
        </p:nvSpPr>
        <p:spPr>
          <a:xfrm>
            <a:off x="822960" y="5806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Лучше всего подходит командам, готовым поддерживать автоматизированные тесты и регулярно улучшать код.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ounded Rectangle 31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FDD: разработка по функциям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5"/>
          <p:cNvSpPr/>
          <p:nvPr/>
        </p:nvSpPr>
        <p:spPr>
          <a:xfrm>
            <a:off x="731520" y="128016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Feature-Driven Development организует работу вокруг небольших функций, значимых для заказчика.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6"/>
          <p:cNvSpPr/>
          <p:nvPr/>
        </p:nvSpPr>
        <p:spPr>
          <a:xfrm>
            <a:off x="685800" y="2423160"/>
            <a:ext cx="2056680" cy="1828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Oval 7"/>
          <p:cNvSpPr/>
          <p:nvPr/>
        </p:nvSpPr>
        <p:spPr>
          <a:xfrm>
            <a:off x="1344240" y="2651760"/>
            <a:ext cx="529560" cy="52956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01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8"/>
          <p:cNvSpPr/>
          <p:nvPr/>
        </p:nvSpPr>
        <p:spPr>
          <a:xfrm>
            <a:off x="777240" y="3383280"/>
            <a:ext cx="1873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Общая модель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9"/>
          <p:cNvSpPr/>
          <p:nvPr/>
        </p:nvSpPr>
        <p:spPr>
          <a:xfrm>
            <a:off x="795600" y="37764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Понять предметную область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0"/>
          <p:cNvSpPr/>
          <p:nvPr/>
        </p:nvSpPr>
        <p:spPr>
          <a:xfrm>
            <a:off x="2752200" y="3108960"/>
            <a:ext cx="21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→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ounded Rectangle 11"/>
          <p:cNvSpPr/>
          <p:nvPr/>
        </p:nvSpPr>
        <p:spPr>
          <a:xfrm>
            <a:off x="2999160" y="2423160"/>
            <a:ext cx="2056680" cy="1828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Oval 12"/>
          <p:cNvSpPr/>
          <p:nvPr/>
        </p:nvSpPr>
        <p:spPr>
          <a:xfrm>
            <a:off x="3657600" y="2651760"/>
            <a:ext cx="529560" cy="52956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02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3"/>
          <p:cNvSpPr/>
          <p:nvPr/>
        </p:nvSpPr>
        <p:spPr>
          <a:xfrm>
            <a:off x="3090600" y="3383280"/>
            <a:ext cx="1873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Список функций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4"/>
          <p:cNvSpPr/>
          <p:nvPr/>
        </p:nvSpPr>
        <p:spPr>
          <a:xfrm>
            <a:off x="3108960" y="37764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Разложить продукт на ценность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15"/>
          <p:cNvSpPr/>
          <p:nvPr/>
        </p:nvSpPr>
        <p:spPr>
          <a:xfrm>
            <a:off x="5065920" y="3108960"/>
            <a:ext cx="21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→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16"/>
          <p:cNvSpPr/>
          <p:nvPr/>
        </p:nvSpPr>
        <p:spPr>
          <a:xfrm>
            <a:off x="5312520" y="2423160"/>
            <a:ext cx="2056680" cy="1828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Oval 17"/>
          <p:cNvSpPr/>
          <p:nvPr/>
        </p:nvSpPr>
        <p:spPr>
          <a:xfrm>
            <a:off x="5970960" y="2651760"/>
            <a:ext cx="529560" cy="52956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03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8"/>
          <p:cNvSpPr/>
          <p:nvPr/>
        </p:nvSpPr>
        <p:spPr>
          <a:xfrm>
            <a:off x="5403960" y="3383280"/>
            <a:ext cx="1873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Планирование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19"/>
          <p:cNvSpPr/>
          <p:nvPr/>
        </p:nvSpPr>
        <p:spPr>
          <a:xfrm>
            <a:off x="5422320" y="37764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Определить приоритеты и сроки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20"/>
          <p:cNvSpPr/>
          <p:nvPr/>
        </p:nvSpPr>
        <p:spPr>
          <a:xfrm>
            <a:off x="7379280" y="3108960"/>
            <a:ext cx="21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→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ounded Rectangle 21"/>
          <p:cNvSpPr/>
          <p:nvPr/>
        </p:nvSpPr>
        <p:spPr>
          <a:xfrm>
            <a:off x="7626240" y="2423160"/>
            <a:ext cx="2056680" cy="1828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Oval 22"/>
          <p:cNvSpPr/>
          <p:nvPr/>
        </p:nvSpPr>
        <p:spPr>
          <a:xfrm>
            <a:off x="8284320" y="2651760"/>
            <a:ext cx="529560" cy="52956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04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23"/>
          <p:cNvSpPr/>
          <p:nvPr/>
        </p:nvSpPr>
        <p:spPr>
          <a:xfrm>
            <a:off x="7717680" y="3383280"/>
            <a:ext cx="1873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Проектирование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24"/>
          <p:cNvSpPr/>
          <p:nvPr/>
        </p:nvSpPr>
        <p:spPr>
          <a:xfrm>
            <a:off x="7735680" y="37764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Продумать конкретную функцию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25"/>
          <p:cNvSpPr/>
          <p:nvPr/>
        </p:nvSpPr>
        <p:spPr>
          <a:xfrm>
            <a:off x="9692640" y="3108960"/>
            <a:ext cx="21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→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ounded Rectangle 26"/>
          <p:cNvSpPr/>
          <p:nvPr/>
        </p:nvSpPr>
        <p:spPr>
          <a:xfrm>
            <a:off x="9939600" y="2423160"/>
            <a:ext cx="2056680" cy="1828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Oval 27"/>
          <p:cNvSpPr/>
          <p:nvPr/>
        </p:nvSpPr>
        <p:spPr>
          <a:xfrm>
            <a:off x="10598040" y="2651760"/>
            <a:ext cx="529560" cy="529560"/>
          </a:xfrm>
          <a:prstGeom prst="ellipse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05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28"/>
          <p:cNvSpPr/>
          <p:nvPr/>
        </p:nvSpPr>
        <p:spPr>
          <a:xfrm>
            <a:off x="10031040" y="3383280"/>
            <a:ext cx="1873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Реализация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29"/>
          <p:cNvSpPr/>
          <p:nvPr/>
        </p:nvSpPr>
        <p:spPr>
          <a:xfrm>
            <a:off x="10049400" y="37764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Разработать и проверить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30"/>
          <p:cNvSpPr/>
          <p:nvPr/>
        </p:nvSpPr>
        <p:spPr>
          <a:xfrm>
            <a:off x="805320" y="4892040"/>
            <a:ext cx="4954680" cy="1169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Rectangle 31"/>
          <p:cNvSpPr/>
          <p:nvPr/>
        </p:nvSpPr>
        <p:spPr>
          <a:xfrm>
            <a:off x="734400" y="4892040"/>
            <a:ext cx="90000" cy="116928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000" tIns="45000" r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32"/>
          <p:cNvSpPr/>
          <p:nvPr/>
        </p:nvSpPr>
        <p:spPr>
          <a:xfrm>
            <a:off x="1024200" y="5038200"/>
            <a:ext cx="4571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Преимущество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33"/>
          <p:cNvSpPr/>
          <p:nvPr/>
        </p:nvSpPr>
        <p:spPr>
          <a:xfrm>
            <a:off x="1024200" y="5459040"/>
            <a:ext cx="45712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Прогресс понятен через готовые бизнес-функции.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ounded Rectangle 34"/>
          <p:cNvSpPr/>
          <p:nvPr/>
        </p:nvSpPr>
        <p:spPr>
          <a:xfrm>
            <a:off x="6427440" y="4892040"/>
            <a:ext cx="4901760" cy="1169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Rectangle 35"/>
          <p:cNvSpPr/>
          <p:nvPr/>
        </p:nvSpPr>
        <p:spPr>
          <a:xfrm>
            <a:off x="6427440" y="4892040"/>
            <a:ext cx="63720" cy="116928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45000" rIns="32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36"/>
          <p:cNvSpPr/>
          <p:nvPr/>
        </p:nvSpPr>
        <p:spPr>
          <a:xfrm>
            <a:off x="6602040" y="5038200"/>
            <a:ext cx="4571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Ограничение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37"/>
          <p:cNvSpPr/>
          <p:nvPr/>
        </p:nvSpPr>
        <p:spPr>
          <a:xfrm>
            <a:off x="6602040" y="5459040"/>
            <a:ext cx="45712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Сложнее применять, когда функции заранее неясны и нужны эксперименты.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38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DSDM: гибкость с формальным управлением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5"/>
          <p:cNvSpPr/>
          <p:nvPr/>
        </p:nvSpPr>
        <p:spPr>
          <a:xfrm>
            <a:off x="731520" y="126180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DSDM сочетает итеративную разработку с ролями, контролем качества и прозрачной приоритизацией.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Rounded Rectangle 6"/>
          <p:cNvSpPr/>
          <p:nvPr/>
        </p:nvSpPr>
        <p:spPr>
          <a:xfrm>
            <a:off x="868680" y="2148840"/>
            <a:ext cx="3153960" cy="2376720"/>
          </a:xfrm>
          <a:prstGeom prst="roundRect">
            <a:avLst>
              <a:gd name="adj" fmla="val 12000"/>
            </a:avLst>
          </a:prstGeom>
          <a:solidFill>
            <a:srgbClr val="13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7"/>
          <p:cNvSpPr/>
          <p:nvPr/>
        </p:nvSpPr>
        <p:spPr>
          <a:xfrm>
            <a:off x="1097280" y="242316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ФИКСИРУЕМ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8"/>
          <p:cNvSpPr/>
          <p:nvPr/>
        </p:nvSpPr>
        <p:spPr>
          <a:xfrm>
            <a:off x="1188720" y="2926080"/>
            <a:ext cx="24681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Время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Ресурсы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Качество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9"/>
          <p:cNvSpPr/>
          <p:nvPr/>
        </p:nvSpPr>
        <p:spPr>
          <a:xfrm>
            <a:off x="4160520" y="2971800"/>
            <a:ext cx="593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8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→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Rounded Rectangle 10"/>
          <p:cNvSpPr/>
          <p:nvPr/>
        </p:nvSpPr>
        <p:spPr>
          <a:xfrm>
            <a:off x="4892040" y="2148840"/>
            <a:ext cx="2925360" cy="2376720"/>
          </a:xfrm>
          <a:prstGeom prst="roundRect">
            <a:avLst>
              <a:gd name="adj" fmla="val 12000"/>
            </a:avLst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11"/>
          <p:cNvSpPr/>
          <p:nvPr/>
        </p:nvSpPr>
        <p:spPr>
          <a:xfrm>
            <a:off x="5074920" y="24231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АДАПТИРУЕМ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12"/>
          <p:cNvSpPr/>
          <p:nvPr/>
        </p:nvSpPr>
        <p:spPr>
          <a:xfrm>
            <a:off x="5166360" y="2926080"/>
            <a:ext cx="23767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Содержание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и приоритеты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функций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ounded Rectangle 13"/>
          <p:cNvSpPr/>
          <p:nvPr/>
        </p:nvSpPr>
        <p:spPr>
          <a:xfrm>
            <a:off x="8229600" y="2148840"/>
            <a:ext cx="2971080" cy="2376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Rectangle 14"/>
          <p:cNvSpPr/>
          <p:nvPr/>
        </p:nvSpPr>
        <p:spPr>
          <a:xfrm>
            <a:off x="8229600" y="2148840"/>
            <a:ext cx="72360" cy="237672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15"/>
          <p:cNvSpPr/>
          <p:nvPr/>
        </p:nvSpPr>
        <p:spPr>
          <a:xfrm>
            <a:off x="8430840" y="2295000"/>
            <a:ext cx="2605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Для кого?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16"/>
          <p:cNvSpPr/>
          <p:nvPr/>
        </p:nvSpPr>
        <p:spPr>
          <a:xfrm>
            <a:off x="8430840" y="2715840"/>
            <a:ext cx="2605320" cy="17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Организации, которым нужна гибкость, но важны роли, контрольные процедуры и связь с бизнес-целями.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17"/>
          <p:cNvSpPr/>
          <p:nvPr/>
        </p:nvSpPr>
        <p:spPr>
          <a:xfrm>
            <a:off x="822960" y="5166360"/>
            <a:ext cx="10514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Ключевой принцип: если сроки и ресурсы ограничены, меняют объём работ, а не бесконтрольно снижают качество.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ounded Rectangle 18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Как выбрать подход под тип проекта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Rounded Rectangle 5"/>
          <p:cNvSpPr/>
          <p:nvPr/>
        </p:nvSpPr>
        <p:spPr>
          <a:xfrm>
            <a:off x="731520" y="1325880"/>
            <a:ext cx="525708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Rectangle 6"/>
          <p:cNvSpPr/>
          <p:nvPr/>
        </p:nvSpPr>
        <p:spPr>
          <a:xfrm>
            <a:off x="731520" y="1325880"/>
            <a:ext cx="81720" cy="123372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7"/>
          <p:cNvSpPr/>
          <p:nvPr/>
        </p:nvSpPr>
        <p:spPr>
          <a:xfrm>
            <a:off x="932760" y="143568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Поддержка и заявки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8"/>
          <p:cNvSpPr/>
          <p:nvPr/>
        </p:nvSpPr>
        <p:spPr>
          <a:xfrm>
            <a:off x="3520440" y="143568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Kanban + Lean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9"/>
          <p:cNvSpPr/>
          <p:nvPr/>
        </p:nvSpPr>
        <p:spPr>
          <a:xfrm>
            <a:off x="932760" y="1828800"/>
            <a:ext cx="47541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Поток непредсказуем; важны очередь, WIP и поиск потерь.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10"/>
          <p:cNvSpPr/>
          <p:nvPr/>
        </p:nvSpPr>
        <p:spPr>
          <a:xfrm>
            <a:off x="6355080" y="1325880"/>
            <a:ext cx="525708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Rectangle 11"/>
          <p:cNvSpPr/>
          <p:nvPr/>
        </p:nvSpPr>
        <p:spPr>
          <a:xfrm>
            <a:off x="6355080" y="1325880"/>
            <a:ext cx="81720" cy="1233720"/>
          </a:xfrm>
          <a:prstGeom prst="rect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12"/>
          <p:cNvSpPr/>
          <p:nvPr/>
        </p:nvSpPr>
        <p:spPr>
          <a:xfrm>
            <a:off x="6556320" y="143568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Новый цифровой продукт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13"/>
          <p:cNvSpPr/>
          <p:nvPr/>
        </p:nvSpPr>
        <p:spPr>
          <a:xfrm>
            <a:off x="9144000" y="143568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4D89D6"/>
                </a:solidFill>
                <a:effectLst/>
                <a:uFillTx/>
                <a:latin typeface="Aptos"/>
              </a:rPr>
              <a:t>XP / Lean / FDD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14"/>
          <p:cNvSpPr/>
          <p:nvPr/>
        </p:nvSpPr>
        <p:spPr>
          <a:xfrm>
            <a:off x="6556320" y="1828800"/>
            <a:ext cx="47541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Выбор зависит от приоритета: качество кода, гипотезы или бизнес-функции.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Rounded Rectangle 15"/>
          <p:cNvSpPr/>
          <p:nvPr/>
        </p:nvSpPr>
        <p:spPr>
          <a:xfrm>
            <a:off x="731520" y="2834640"/>
            <a:ext cx="525708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Rectangle 16"/>
          <p:cNvSpPr/>
          <p:nvPr/>
        </p:nvSpPr>
        <p:spPr>
          <a:xfrm>
            <a:off x="731520" y="2834640"/>
            <a:ext cx="81720" cy="123372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TextBox 17"/>
          <p:cNvSpPr/>
          <p:nvPr/>
        </p:nvSpPr>
        <p:spPr>
          <a:xfrm>
            <a:off x="932760" y="294444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Несколько команд — один продукт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18"/>
          <p:cNvSpPr/>
          <p:nvPr/>
        </p:nvSpPr>
        <p:spPr>
          <a:xfrm>
            <a:off x="3520440" y="294444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F6A44C"/>
                </a:solidFill>
                <a:effectLst/>
                <a:uFillTx/>
                <a:latin typeface="Aptos"/>
              </a:rPr>
              <a:t>Nexus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19"/>
          <p:cNvSpPr/>
          <p:nvPr/>
        </p:nvSpPr>
        <p:spPr>
          <a:xfrm>
            <a:off x="932760" y="3337560"/>
            <a:ext cx="47541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Основной риск — зависимости и интеграция результатов.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ounded Rectangle 20"/>
          <p:cNvSpPr/>
          <p:nvPr/>
        </p:nvSpPr>
        <p:spPr>
          <a:xfrm>
            <a:off x="6355080" y="2834640"/>
            <a:ext cx="525708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8" name="Rectangle 21"/>
          <p:cNvSpPr/>
          <p:nvPr/>
        </p:nvSpPr>
        <p:spPr>
          <a:xfrm>
            <a:off x="6355080" y="2834640"/>
            <a:ext cx="81720" cy="1233720"/>
          </a:xfrm>
          <a:prstGeom prst="rect">
            <a:avLst/>
          </a:prstGeom>
          <a:solidFill>
            <a:srgbClr val="9174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22"/>
          <p:cNvSpPr/>
          <p:nvPr/>
        </p:nvSpPr>
        <p:spPr>
          <a:xfrm>
            <a:off x="6556320" y="294444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Крупная корпоративная программа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23"/>
          <p:cNvSpPr/>
          <p:nvPr/>
        </p:nvSpPr>
        <p:spPr>
          <a:xfrm>
            <a:off x="9144000" y="294444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9174BE"/>
                </a:solidFill>
                <a:effectLst/>
                <a:uFillTx/>
                <a:latin typeface="Aptos"/>
              </a:rPr>
              <a:t>SAFe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4"/>
          <p:cNvSpPr/>
          <p:nvPr/>
        </p:nvSpPr>
        <p:spPr>
          <a:xfrm>
            <a:off x="6556320" y="3337560"/>
            <a:ext cx="47541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Нужно согласовать команды, стратегию, бюджеты и архитектуру.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ounded Rectangle 25"/>
          <p:cNvSpPr/>
          <p:nvPr/>
        </p:nvSpPr>
        <p:spPr>
          <a:xfrm>
            <a:off x="731520" y="4343400"/>
            <a:ext cx="525708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Rectangle 26"/>
          <p:cNvSpPr/>
          <p:nvPr/>
        </p:nvSpPr>
        <p:spPr>
          <a:xfrm>
            <a:off x="731520" y="4343400"/>
            <a:ext cx="81720" cy="1233720"/>
          </a:xfrm>
          <a:prstGeom prst="rect">
            <a:avLst/>
          </a:prstGeom>
          <a:solidFill>
            <a:srgbClr val="72A4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27"/>
          <p:cNvSpPr/>
          <p:nvPr/>
        </p:nvSpPr>
        <p:spPr>
          <a:xfrm>
            <a:off x="932760" y="445320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Исследования и инновации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28"/>
          <p:cNvSpPr/>
          <p:nvPr/>
        </p:nvSpPr>
        <p:spPr>
          <a:xfrm>
            <a:off x="3520440" y="445320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72A482"/>
                </a:solidFill>
                <a:effectLst/>
                <a:uFillTx/>
                <a:latin typeface="Aptos"/>
              </a:rPr>
              <a:t>Lean + эксперименты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29"/>
          <p:cNvSpPr/>
          <p:nvPr/>
        </p:nvSpPr>
        <p:spPr>
          <a:xfrm>
            <a:off x="932760" y="4846320"/>
            <a:ext cx="47541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Проверять гипотезы короткими циклами и ограничивать затраты.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ounded Rectangle 30"/>
          <p:cNvSpPr/>
          <p:nvPr/>
        </p:nvSpPr>
        <p:spPr>
          <a:xfrm>
            <a:off x="6355080" y="4343400"/>
            <a:ext cx="5257080" cy="1233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Rectangle 31"/>
          <p:cNvSpPr/>
          <p:nvPr/>
        </p:nvSpPr>
        <p:spPr>
          <a:xfrm>
            <a:off x="6355080" y="4343400"/>
            <a:ext cx="81720" cy="1233720"/>
          </a:xfrm>
          <a:prstGeom prst="rect">
            <a:avLst/>
          </a:prstGeom>
          <a:solidFill>
            <a:srgbClr val="DE66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32"/>
          <p:cNvSpPr/>
          <p:nvPr/>
        </p:nvSpPr>
        <p:spPr>
          <a:xfrm>
            <a:off x="6556320" y="445320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Небольшая команда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33"/>
          <p:cNvSpPr/>
          <p:nvPr/>
        </p:nvSpPr>
        <p:spPr>
          <a:xfrm>
            <a:off x="9144000" y="445320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DE6666"/>
                </a:solidFill>
                <a:effectLst/>
                <a:uFillTx/>
                <a:latin typeface="Aptos"/>
              </a:rPr>
              <a:t>Crystal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34"/>
          <p:cNvSpPr/>
          <p:nvPr/>
        </p:nvSpPr>
        <p:spPr>
          <a:xfrm>
            <a:off x="6556320" y="4846320"/>
            <a:ext cx="47541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Процесс адаптируется к людям, размеру и критичности продукта.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Rounded Rectangle 35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Условия успешного внедрения Agile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Oval 5"/>
          <p:cNvSpPr/>
          <p:nvPr/>
        </p:nvSpPr>
        <p:spPr>
          <a:xfrm>
            <a:off x="868680" y="1426320"/>
            <a:ext cx="438120" cy="43812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1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6"/>
          <p:cNvSpPr/>
          <p:nvPr/>
        </p:nvSpPr>
        <p:spPr>
          <a:xfrm>
            <a:off x="1508760" y="1353240"/>
            <a:ext cx="2971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Цель ясна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7"/>
          <p:cNvSpPr/>
          <p:nvPr/>
        </p:nvSpPr>
        <p:spPr>
          <a:xfrm>
            <a:off x="4297680" y="1353240"/>
            <a:ext cx="6811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Команда понимает, какую ценность создаёт.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Oval 8"/>
          <p:cNvSpPr/>
          <p:nvPr/>
        </p:nvSpPr>
        <p:spPr>
          <a:xfrm>
            <a:off x="868680" y="2359080"/>
            <a:ext cx="438120" cy="438120"/>
          </a:xfrm>
          <a:prstGeom prst="ellipse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2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9"/>
          <p:cNvSpPr/>
          <p:nvPr/>
        </p:nvSpPr>
        <p:spPr>
          <a:xfrm>
            <a:off x="1508760" y="2286000"/>
            <a:ext cx="2971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Обратная связь регулярна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10"/>
          <p:cNvSpPr/>
          <p:nvPr/>
        </p:nvSpPr>
        <p:spPr>
          <a:xfrm>
            <a:off x="4297680" y="2286000"/>
            <a:ext cx="6811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Пользователи и заказчик участвуют в проверке результата.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Oval 11"/>
          <p:cNvSpPr/>
          <p:nvPr/>
        </p:nvSpPr>
        <p:spPr>
          <a:xfrm>
            <a:off x="868680" y="3291840"/>
            <a:ext cx="438120" cy="43812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3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12"/>
          <p:cNvSpPr/>
          <p:nvPr/>
        </p:nvSpPr>
        <p:spPr>
          <a:xfrm>
            <a:off x="1508760" y="3218760"/>
            <a:ext cx="2971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Работа прозрачна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Box 13"/>
          <p:cNvSpPr/>
          <p:nvPr/>
        </p:nvSpPr>
        <p:spPr>
          <a:xfrm>
            <a:off x="4297680" y="3218760"/>
            <a:ext cx="6811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Видны приоритеты, блокеры и состояние задач.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Oval 14"/>
          <p:cNvSpPr/>
          <p:nvPr/>
        </p:nvSpPr>
        <p:spPr>
          <a:xfrm>
            <a:off x="868680" y="4224600"/>
            <a:ext cx="438120" cy="438120"/>
          </a:xfrm>
          <a:prstGeom prst="ellipse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4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15"/>
          <p:cNvSpPr/>
          <p:nvPr/>
        </p:nvSpPr>
        <p:spPr>
          <a:xfrm>
            <a:off x="1508760" y="4151520"/>
            <a:ext cx="2971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Качество встроено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16"/>
          <p:cNvSpPr/>
          <p:nvPr/>
        </p:nvSpPr>
        <p:spPr>
          <a:xfrm>
            <a:off x="4297680" y="4151520"/>
            <a:ext cx="6811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Тестирование и критерии готовности — часть процесса.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Oval 17"/>
          <p:cNvSpPr/>
          <p:nvPr/>
        </p:nvSpPr>
        <p:spPr>
          <a:xfrm>
            <a:off x="868680" y="5157360"/>
            <a:ext cx="438120" cy="43812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5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18"/>
          <p:cNvSpPr/>
          <p:nvPr/>
        </p:nvSpPr>
        <p:spPr>
          <a:xfrm>
            <a:off x="1508760" y="5083920"/>
            <a:ext cx="2971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Улучшения постоянны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19"/>
          <p:cNvSpPr/>
          <p:nvPr/>
        </p:nvSpPr>
        <p:spPr>
          <a:xfrm>
            <a:off x="4297680" y="5083920"/>
            <a:ext cx="6811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Команда анализирует не только продукт, но и способ работы.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ectangle 20"/>
          <p:cNvSpPr/>
          <p:nvPr/>
        </p:nvSpPr>
        <p:spPr>
          <a:xfrm>
            <a:off x="822960" y="6080760"/>
            <a:ext cx="10514880" cy="291960"/>
          </a:xfrm>
          <a:prstGeom prst="rect">
            <a:avLst/>
          </a:prstGeom>
          <a:solidFill>
            <a:srgbClr val="E8EF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Box 21"/>
          <p:cNvSpPr/>
          <p:nvPr/>
        </p:nvSpPr>
        <p:spPr>
          <a:xfrm>
            <a:off x="960120" y="6108120"/>
            <a:ext cx="102405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Гибкость — это не отсутствие дисциплины, а способность менять план на основе фактов.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ounded Rectangle 22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ounded Rectangle 1"/>
          <p:cNvSpPr/>
          <p:nvPr/>
        </p:nvSpPr>
        <p:spPr>
          <a:xfrm>
            <a:off x="82080" y="250200"/>
            <a:ext cx="12023640" cy="662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Box 3"/>
          <p:cNvSpPr/>
          <p:nvPr/>
        </p:nvSpPr>
        <p:spPr>
          <a:xfrm>
            <a:off x="503640" y="394920"/>
            <a:ext cx="4114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2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План на сегодня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Rounded Rectangle 4"/>
          <p:cNvSpPr/>
          <p:nvPr/>
        </p:nvSpPr>
        <p:spPr>
          <a:xfrm>
            <a:off x="365760" y="841320"/>
            <a:ext cx="3474000" cy="543996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5"/>
          <p:cNvSpPr/>
          <p:nvPr/>
        </p:nvSpPr>
        <p:spPr>
          <a:xfrm>
            <a:off x="502920" y="102420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Очередь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ounded Rectangle 6"/>
          <p:cNvSpPr/>
          <p:nvPr/>
        </p:nvSpPr>
        <p:spPr>
          <a:xfrm>
            <a:off x="3182040" y="987480"/>
            <a:ext cx="410760" cy="328320"/>
          </a:xfrm>
          <a:prstGeom prst="roundRect">
            <a:avLst>
              <a:gd name="adj" fmla="val 12000"/>
            </a:avLst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TextBox 7"/>
          <p:cNvSpPr/>
          <p:nvPr/>
        </p:nvSpPr>
        <p:spPr>
          <a:xfrm>
            <a:off x="3182040" y="1033200"/>
            <a:ext cx="410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Rounded Rectangle 8"/>
          <p:cNvSpPr/>
          <p:nvPr/>
        </p:nvSpPr>
        <p:spPr>
          <a:xfrm>
            <a:off x="484560" y="1572840"/>
            <a:ext cx="3218040" cy="895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9"/>
          <p:cNvSpPr/>
          <p:nvPr/>
        </p:nvSpPr>
        <p:spPr>
          <a:xfrm>
            <a:off x="621720" y="1755720"/>
            <a:ext cx="2907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На трицепс (4x15)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ounded Rectangle 10"/>
          <p:cNvSpPr/>
          <p:nvPr/>
        </p:nvSpPr>
        <p:spPr>
          <a:xfrm>
            <a:off x="484560" y="2807280"/>
            <a:ext cx="3218040" cy="895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11"/>
          <p:cNvSpPr/>
          <p:nvPr/>
        </p:nvSpPr>
        <p:spPr>
          <a:xfrm>
            <a:off x="621720" y="2990160"/>
            <a:ext cx="2907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Пресс (3x20)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ounded Rectangle 12"/>
          <p:cNvSpPr/>
          <p:nvPr/>
        </p:nvSpPr>
        <p:spPr>
          <a:xfrm>
            <a:off x="4343400" y="841320"/>
            <a:ext cx="3474000" cy="543996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13"/>
          <p:cNvSpPr/>
          <p:nvPr/>
        </p:nvSpPr>
        <p:spPr>
          <a:xfrm>
            <a:off x="4480560" y="102420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В работе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Rounded Rectangle 14"/>
          <p:cNvSpPr/>
          <p:nvPr/>
        </p:nvSpPr>
        <p:spPr>
          <a:xfrm>
            <a:off x="7159680" y="987480"/>
            <a:ext cx="410760" cy="328320"/>
          </a:xfrm>
          <a:prstGeom prst="roundRect">
            <a:avLst>
              <a:gd name="adj" fmla="val 12000"/>
            </a:avLst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TextBox 15"/>
          <p:cNvSpPr/>
          <p:nvPr/>
        </p:nvSpPr>
        <p:spPr>
          <a:xfrm>
            <a:off x="7159680" y="1033200"/>
            <a:ext cx="410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Rounded Rectangle 16"/>
          <p:cNvSpPr/>
          <p:nvPr/>
        </p:nvSpPr>
        <p:spPr>
          <a:xfrm>
            <a:off x="4462200" y="1572840"/>
            <a:ext cx="3218040" cy="895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TextBox 17"/>
          <p:cNvSpPr/>
          <p:nvPr/>
        </p:nvSpPr>
        <p:spPr>
          <a:xfrm>
            <a:off x="4599360" y="1755720"/>
            <a:ext cx="2907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На бицепс (4x15)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Oval 18"/>
          <p:cNvSpPr/>
          <p:nvPr/>
        </p:nvSpPr>
        <p:spPr>
          <a:xfrm>
            <a:off x="4599360" y="2130480"/>
            <a:ext cx="291960" cy="291960"/>
          </a:xfrm>
          <a:prstGeom prst="ellipse">
            <a:avLst/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R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Rounded Rectangle 19"/>
          <p:cNvSpPr/>
          <p:nvPr/>
        </p:nvSpPr>
        <p:spPr>
          <a:xfrm>
            <a:off x="8321040" y="841320"/>
            <a:ext cx="3474000" cy="543996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0" name="TextBox 20"/>
          <p:cNvSpPr/>
          <p:nvPr/>
        </p:nvSpPr>
        <p:spPr>
          <a:xfrm>
            <a:off x="8458200" y="102420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✓ Готово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Rounded Rectangle 21"/>
          <p:cNvSpPr/>
          <p:nvPr/>
        </p:nvSpPr>
        <p:spPr>
          <a:xfrm>
            <a:off x="11137320" y="987480"/>
            <a:ext cx="410760" cy="328320"/>
          </a:xfrm>
          <a:prstGeom prst="roundRect">
            <a:avLst>
              <a:gd name="adj" fmla="val 12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TextBox 22"/>
          <p:cNvSpPr/>
          <p:nvPr/>
        </p:nvSpPr>
        <p:spPr>
          <a:xfrm>
            <a:off x="11137320" y="1033200"/>
            <a:ext cx="410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Rounded Rectangle 23"/>
          <p:cNvSpPr/>
          <p:nvPr/>
        </p:nvSpPr>
        <p:spPr>
          <a:xfrm>
            <a:off x="8439840" y="1572840"/>
            <a:ext cx="3218040" cy="895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TextBox 24"/>
          <p:cNvSpPr/>
          <p:nvPr/>
        </p:nvSpPr>
        <p:spPr>
          <a:xfrm>
            <a:off x="8577000" y="1755720"/>
            <a:ext cx="2907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Подтягивания (3x10)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Oval 25"/>
          <p:cNvSpPr/>
          <p:nvPr/>
        </p:nvSpPr>
        <p:spPr>
          <a:xfrm>
            <a:off x="8577000" y="2130480"/>
            <a:ext cx="291960" cy="291960"/>
          </a:xfrm>
          <a:prstGeom prst="ellipse">
            <a:avLst/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R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Rounded Rectangle 26"/>
          <p:cNvSpPr/>
          <p:nvPr/>
        </p:nvSpPr>
        <p:spPr>
          <a:xfrm>
            <a:off x="8439840" y="2807280"/>
            <a:ext cx="3218040" cy="895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27"/>
          <p:cNvSpPr/>
          <p:nvPr/>
        </p:nvSpPr>
        <p:spPr>
          <a:xfrm>
            <a:off x="8577000" y="2990160"/>
            <a:ext cx="2907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Жим лежа (3x10)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Oval 28"/>
          <p:cNvSpPr/>
          <p:nvPr/>
        </p:nvSpPr>
        <p:spPr>
          <a:xfrm>
            <a:off x="8577000" y="3364920"/>
            <a:ext cx="291960" cy="291960"/>
          </a:xfrm>
          <a:prstGeom prst="ellipse">
            <a:avLst/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9AEA0"/>
                </a:solidFill>
                <a:effectLst/>
                <a:uFillTx/>
                <a:latin typeface="Aptos"/>
              </a:rPr>
              <a:t>R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29"/>
          <p:cNvSpPr/>
          <p:nvPr/>
        </p:nvSpPr>
        <p:spPr>
          <a:xfrm>
            <a:off x="483120" y="-2880"/>
            <a:ext cx="1094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Пример использования методологии Kanban в жизни 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Rounded Rectangle 1"/>
          <p:cNvSpPr/>
          <p:nvPr/>
        </p:nvSpPr>
        <p:spPr>
          <a:xfrm>
            <a:off x="398520" y="1440"/>
            <a:ext cx="90720" cy="438120"/>
          </a:xfrm>
          <a:prstGeom prst="roundRect">
            <a:avLst>
              <a:gd name="adj" fmla="val 16667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Rounded Rectangle 1"/>
          <p:cNvSpPr/>
          <p:nvPr/>
        </p:nvSpPr>
        <p:spPr>
          <a:xfrm>
            <a:off x="567000" y="329040"/>
            <a:ext cx="90720" cy="438120"/>
          </a:xfrm>
          <a:prstGeom prst="roundRect">
            <a:avLst>
              <a:gd name="adj" fmla="val 16667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TextBox 2"/>
          <p:cNvSpPr/>
          <p:nvPr/>
        </p:nvSpPr>
        <p:spPr>
          <a:xfrm>
            <a:off x="822960" y="292680"/>
            <a:ext cx="10697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Практический пример Lean: Toyota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3"/>
          <p:cNvSpPr/>
          <p:nvPr/>
        </p:nvSpPr>
        <p:spPr>
          <a:xfrm>
            <a:off x="822960" y="1005840"/>
            <a:ext cx="10514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66768A"/>
                </a:solidFill>
                <a:effectLst/>
                <a:uFillTx/>
                <a:latin typeface="Aptos"/>
              </a:rPr>
              <a:t>Toyota развивала Toyota Production System (TPS) — производственную систему, в которой ценность создаётся с минимальными потерями и с постоянным вниманием к качеству.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Rounded Rectangle 4"/>
          <p:cNvSpPr/>
          <p:nvPr/>
        </p:nvSpPr>
        <p:spPr>
          <a:xfrm>
            <a:off x="777240" y="1828800"/>
            <a:ext cx="5074200" cy="1325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Rectangle 5"/>
          <p:cNvSpPr/>
          <p:nvPr/>
        </p:nvSpPr>
        <p:spPr>
          <a:xfrm>
            <a:off x="777240" y="1828800"/>
            <a:ext cx="63360" cy="1325160"/>
          </a:xfrm>
          <a:prstGeom prst="rect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6"/>
          <p:cNvSpPr/>
          <p:nvPr/>
        </p:nvSpPr>
        <p:spPr>
          <a:xfrm>
            <a:off x="960120" y="19476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Just-in-Time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7"/>
          <p:cNvSpPr/>
          <p:nvPr/>
        </p:nvSpPr>
        <p:spPr>
          <a:xfrm>
            <a:off x="960120" y="2322720"/>
            <a:ext cx="4754160" cy="7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Производить и передавать детали тогда, когда они нужны следующему этапу, и в необходимом количестве. Это помогает сокращать лишние запасы и ожидание.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Rounded Rectangle 8"/>
          <p:cNvSpPr/>
          <p:nvPr/>
        </p:nvSpPr>
        <p:spPr>
          <a:xfrm>
            <a:off x="6263640" y="1828800"/>
            <a:ext cx="5074200" cy="1325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Rectangle 9"/>
          <p:cNvSpPr/>
          <p:nvPr/>
        </p:nvSpPr>
        <p:spPr>
          <a:xfrm>
            <a:off x="6263640" y="1828800"/>
            <a:ext cx="63360" cy="1325160"/>
          </a:xfrm>
          <a:prstGeom prst="rect">
            <a:avLst/>
          </a:prstGeom>
          <a:solidFill>
            <a:srgbClr val="4D89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10"/>
          <p:cNvSpPr/>
          <p:nvPr/>
        </p:nvSpPr>
        <p:spPr>
          <a:xfrm>
            <a:off x="6446520" y="19476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Jidoka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11"/>
          <p:cNvSpPr/>
          <p:nvPr/>
        </p:nvSpPr>
        <p:spPr>
          <a:xfrm>
            <a:off x="6446520" y="2322720"/>
            <a:ext cx="4754160" cy="7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Если обнаружена неисправность или дефект, процесс останавливают, чтобы не передавать проблему дальше и устранить её причину.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ounded Rectangle 12"/>
          <p:cNvSpPr/>
          <p:nvPr/>
        </p:nvSpPr>
        <p:spPr>
          <a:xfrm>
            <a:off x="777240" y="3429000"/>
            <a:ext cx="5074200" cy="1325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Rectangle 13"/>
          <p:cNvSpPr/>
          <p:nvPr/>
        </p:nvSpPr>
        <p:spPr>
          <a:xfrm>
            <a:off x="777240" y="3429000"/>
            <a:ext cx="63360" cy="1325160"/>
          </a:xfrm>
          <a:prstGeom prst="rect">
            <a:avLst/>
          </a:prstGeom>
          <a:solidFill>
            <a:srgbClr val="F6A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TextBox 14"/>
          <p:cNvSpPr/>
          <p:nvPr/>
        </p:nvSpPr>
        <p:spPr>
          <a:xfrm>
            <a:off x="960120" y="35478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Kaizen — постоянные улучшения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15"/>
          <p:cNvSpPr/>
          <p:nvPr/>
        </p:nvSpPr>
        <p:spPr>
          <a:xfrm>
            <a:off x="960120" y="3922920"/>
            <a:ext cx="4754160" cy="7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Сотрудники регулярно предлагают небольшие улучшения рабочих процессов, чтобы повышать качество и облегчать работу.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Rounded Rectangle 16"/>
          <p:cNvSpPr/>
          <p:nvPr/>
        </p:nvSpPr>
        <p:spPr>
          <a:xfrm>
            <a:off x="6263640" y="3429000"/>
            <a:ext cx="5074200" cy="1325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F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Rectangle 17"/>
          <p:cNvSpPr/>
          <p:nvPr/>
        </p:nvSpPr>
        <p:spPr>
          <a:xfrm>
            <a:off x="6263640" y="3429000"/>
            <a:ext cx="63360" cy="1325160"/>
          </a:xfrm>
          <a:prstGeom prst="rect">
            <a:avLst/>
          </a:prstGeom>
          <a:solidFill>
            <a:srgbClr val="DE66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Box 18"/>
          <p:cNvSpPr/>
          <p:nvPr/>
        </p:nvSpPr>
        <p:spPr>
          <a:xfrm>
            <a:off x="6446520" y="35478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Что даёт такой подход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19"/>
          <p:cNvSpPr/>
          <p:nvPr/>
        </p:nvSpPr>
        <p:spPr>
          <a:xfrm>
            <a:off x="6446520" y="3922920"/>
            <a:ext cx="4754160" cy="7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Меньше потерь и дефектов, более короткий производственный цикл и лучшее соответствие выпуска спросу.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Rounded Rectangle 20"/>
          <p:cNvSpPr/>
          <p:nvPr/>
        </p:nvSpPr>
        <p:spPr>
          <a:xfrm>
            <a:off x="851040" y="5074920"/>
            <a:ext cx="10360080" cy="773640"/>
          </a:xfrm>
          <a:prstGeom prst="roundRect">
            <a:avLst>
              <a:gd name="adj" fmla="val 12000"/>
            </a:avLst>
          </a:prstGeom>
          <a:solidFill>
            <a:srgbClr val="DBF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21"/>
          <p:cNvSpPr/>
          <p:nvPr/>
        </p:nvSpPr>
        <p:spPr>
          <a:xfrm>
            <a:off x="1051560" y="5239440"/>
            <a:ext cx="1001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Главный урок: Lean — не просто экономия ресурсов, а системное устранение потерь и улучшение процесса с участием людей.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Box 1"/>
          <p:cNvSpPr/>
          <p:nvPr/>
        </p:nvSpPr>
        <p:spPr>
          <a:xfrm>
            <a:off x="822960" y="34740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Заключение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Box 5"/>
          <p:cNvSpPr/>
          <p:nvPr/>
        </p:nvSpPr>
        <p:spPr>
          <a:xfrm>
            <a:off x="777240" y="132588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100" b="1" u="none" strike="noStrike">
                <a:solidFill>
                  <a:srgbClr val="13223A"/>
                </a:solidFill>
                <a:effectLst/>
                <a:uFillTx/>
                <a:latin typeface="Aptos"/>
              </a:rPr>
              <a:t>Гибкие подходы помогают управлять неопределённостью и быстрее получать полезный результат.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Oval 6"/>
          <p:cNvSpPr/>
          <p:nvPr/>
        </p:nvSpPr>
        <p:spPr>
          <a:xfrm>
            <a:off x="914400" y="2441520"/>
            <a:ext cx="118080" cy="11808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9040" tIns="38880" rIns="59040" bIns="38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5" name="TextBox 7"/>
          <p:cNvSpPr/>
          <p:nvPr/>
        </p:nvSpPr>
        <p:spPr>
          <a:xfrm>
            <a:off x="1170360" y="2331720"/>
            <a:ext cx="9984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Итеративность помогает регулярно проверять решения и получать обратную связь.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Oval 8"/>
          <p:cNvSpPr/>
          <p:nvPr/>
        </p:nvSpPr>
        <p:spPr>
          <a:xfrm>
            <a:off x="914400" y="3017520"/>
            <a:ext cx="118080" cy="11808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9040" tIns="38880" rIns="59040" bIns="38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TextBox 9"/>
          <p:cNvSpPr/>
          <p:nvPr/>
        </p:nvSpPr>
        <p:spPr>
          <a:xfrm>
            <a:off x="1170360" y="2907720"/>
            <a:ext cx="9984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Инкрементальность позволяет поставлять продукт частями, каждая из которых добавляет ценность.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Oval 10"/>
          <p:cNvSpPr/>
          <p:nvPr/>
        </p:nvSpPr>
        <p:spPr>
          <a:xfrm>
            <a:off x="914400" y="3593520"/>
            <a:ext cx="118080" cy="11808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9040" tIns="38880" rIns="59040" bIns="38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9" name="TextBox 11"/>
          <p:cNvSpPr/>
          <p:nvPr/>
        </p:nvSpPr>
        <p:spPr>
          <a:xfrm>
            <a:off x="1170360" y="3483720"/>
            <a:ext cx="9984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Kanban и Lean улучшают поток работы и сокращают потери.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Oval 12"/>
          <p:cNvSpPr/>
          <p:nvPr/>
        </p:nvSpPr>
        <p:spPr>
          <a:xfrm>
            <a:off x="914400" y="4169520"/>
            <a:ext cx="118080" cy="11808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9040" tIns="38880" rIns="59040" bIns="38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TextBox 13"/>
          <p:cNvSpPr/>
          <p:nvPr/>
        </p:nvSpPr>
        <p:spPr>
          <a:xfrm>
            <a:off x="1170360" y="4060080"/>
            <a:ext cx="9984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Crystal, XP, FDD и DSDM предлагают разные способы организации разработки.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Oval 14"/>
          <p:cNvSpPr/>
          <p:nvPr/>
        </p:nvSpPr>
        <p:spPr>
          <a:xfrm>
            <a:off x="914400" y="4745880"/>
            <a:ext cx="118080" cy="118080"/>
          </a:xfrm>
          <a:prstGeom prst="ellipse">
            <a:avLst/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9040" tIns="38880" rIns="59040" bIns="38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3" name="TextBox 15"/>
          <p:cNvSpPr/>
          <p:nvPr/>
        </p:nvSpPr>
        <p:spPr>
          <a:xfrm>
            <a:off x="1170360" y="4636080"/>
            <a:ext cx="9984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2A3748"/>
                </a:solidFill>
                <a:effectLst/>
                <a:uFillTx/>
                <a:latin typeface="Aptos"/>
              </a:rPr>
              <a:t>Nexus и SAFe помогают координировать работу нескольких команд и крупных программ.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Rounded Rectangle 16"/>
          <p:cNvSpPr/>
          <p:nvPr/>
        </p:nvSpPr>
        <p:spPr>
          <a:xfrm>
            <a:off x="787680" y="5623560"/>
            <a:ext cx="10514880" cy="762120"/>
          </a:xfrm>
          <a:prstGeom prst="roundRect">
            <a:avLst>
              <a:gd name="adj" fmla="val 12000"/>
            </a:avLst>
          </a:prstGeom>
          <a:solidFill>
            <a:srgbClr val="13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17"/>
          <p:cNvSpPr/>
          <p:nvPr/>
        </p:nvSpPr>
        <p:spPr>
          <a:xfrm>
            <a:off x="1051560" y="5779080"/>
            <a:ext cx="10057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Выбирать следует не самый популярный фреймворк, а тот, который соответствует рискам, масштабу и целям проекта.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Rounded Rectangle 18"/>
          <p:cNvSpPr/>
          <p:nvPr/>
        </p:nvSpPr>
        <p:spPr>
          <a:xfrm>
            <a:off x="567000" y="347400"/>
            <a:ext cx="90720" cy="438120"/>
          </a:xfrm>
          <a:prstGeom prst="roundRect">
            <a:avLst>
              <a:gd name="adj" fmla="val 20000"/>
            </a:avLst>
          </a:prstGeom>
          <a:solidFill>
            <a:srgbClr val="19A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2026-10-23T20:46:16Z</dcterms:modified>
  <cp:revision>45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